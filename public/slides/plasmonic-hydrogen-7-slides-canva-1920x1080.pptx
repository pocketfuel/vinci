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01 / 07</a:t>
            </a:r>
            <a:endParaRPr lang="en-US" sz="1100" dirty="0"/>
          </a:p>
        </p:txBody>
      </p:sp>
      <p:sp>
        <p:nvSpPr>
          <p:cNvPr id="5" name="Shape 3"/>
          <p:cNvSpPr/>
          <p:nvPr/>
        </p:nvSpPr>
        <p:spPr>
          <a:xfrm>
            <a:off x="457200" y="868680"/>
            <a:ext cx="2148840" cy="475488"/>
          </a:xfrm>
          <a:prstGeom prst="roundRect">
            <a:avLst/>
          </a:prstGeom>
          <a:solidFill>
            <a:srgbClr val="C7D8BE"/>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73936"/>
            <a:ext cx="9829800" cy="1188720"/>
          </a:xfrm>
          <a:prstGeom prst="rect">
            <a:avLst/>
          </a:prstGeom>
          <a:noFill/>
          <a:ln/>
        </p:spPr>
        <p:txBody>
          <a:bodyPr wrap="square" rtlCol="0" anchor="t"/>
          <a:lstStyle/>
          <a:p>
            <a:pPr indent="0" marL="0">
              <a:buNone/>
            </a:pPr>
            <a:r>
              <a:rPr lang="en-US" sz="4600" dirty="0">
                <a:solidFill>
                  <a:srgbClr val="1E5A2A"/>
                </a:solidFill>
                <a:latin typeface="The Seasons" pitchFamily="34" charset="0"/>
                <a:ea typeface="The Seasons" pitchFamily="34" charset="-122"/>
                <a:cs typeface="The Seasons" pitchFamily="34" charset="-120"/>
              </a:rPr>
              <a:t>Plasmonic Hydrogen</a:t>
            </a:r>
            <a:endParaRPr lang="en-US" sz="4600" dirty="0"/>
          </a:p>
          <a:p>
            <a:pPr indent="0" marL="0">
              <a:buNone/>
            </a:pPr>
            <a:r>
              <a:rPr lang="en-US" sz="4600" dirty="0">
                <a:solidFill>
                  <a:srgbClr val="1E5A2A"/>
                </a:solidFill>
                <a:latin typeface="The Seasons" pitchFamily="34" charset="0"/>
                <a:ea typeface="The Seasons" pitchFamily="34" charset="-122"/>
                <a:cs typeface="The Seasons" pitchFamily="34" charset="-120"/>
              </a:rPr>
              <a:t>Power Generator</a:t>
            </a:r>
            <a:endParaRPr lang="en-US" sz="4600" dirty="0"/>
          </a:p>
        </p:txBody>
      </p:sp>
      <p:sp>
        <p:nvSpPr>
          <p:cNvPr id="22" name="Text 20"/>
          <p:cNvSpPr/>
          <p:nvPr/>
        </p:nvSpPr>
        <p:spPr>
          <a:xfrm>
            <a:off x="804672" y="3035808"/>
            <a:ext cx="9646920" cy="457200"/>
          </a:xfrm>
          <a:prstGeom prst="rect">
            <a:avLst/>
          </a:prstGeom>
          <a:noFill/>
          <a:ln/>
        </p:spPr>
        <p:txBody>
          <a:bodyPr wrap="square" rtlCol="0" anchor="t">
            <a:normAutofit/>
          </a:bodyPr>
          <a:lstStyle/>
          <a:p>
            <a:pPr indent="0" marL="0">
              <a:buNone/>
            </a:pPr>
            <a:r>
              <a:rPr lang="en-US" sz="2400" b="1" dirty="0">
                <a:solidFill>
                  <a:srgbClr val="20252B"/>
                </a:solidFill>
                <a:latin typeface="DM Sans" pitchFamily="34" charset="0"/>
                <a:ea typeface="DM Sans" pitchFamily="34" charset="-122"/>
                <a:cs typeface="DM Sans" pitchFamily="34" charset="-120"/>
              </a:rPr>
              <a:t>The Next Leap in Clean Energy</a:t>
            </a:r>
            <a:endParaRPr lang="en-US" sz="2400" dirty="0"/>
          </a:p>
        </p:txBody>
      </p:sp>
      <p:sp>
        <p:nvSpPr>
          <p:cNvPr id="23" name="Text 21"/>
          <p:cNvSpPr/>
          <p:nvPr/>
        </p:nvSpPr>
        <p:spPr>
          <a:xfrm>
            <a:off x="804672" y="3602736"/>
            <a:ext cx="9692640" cy="2377440"/>
          </a:xfrm>
          <a:prstGeom prst="rect">
            <a:avLst/>
          </a:prstGeom>
          <a:noFill/>
          <a:ln/>
        </p:spPr>
        <p:txBody>
          <a:bodyPr wrap="square" rtlCol="0" anchor="t">
            <a:normAutofit/>
          </a:bodyPr>
          <a:lstStyle/>
          <a:p>
            <a:pPr indent="0" marL="0">
              <a:buNone/>
            </a:pPr>
            <a:r>
              <a:rPr lang="en-US" sz="1630" dirty="0">
                <a:solidFill>
                  <a:srgbClr val="20252B"/>
                </a:solidFill>
                <a:latin typeface="DM Sans" pitchFamily="34" charset="0"/>
                <a:ea typeface="DM Sans" pitchFamily="34" charset="-122"/>
                <a:cs typeface="DM Sans" pitchFamily="34" charset="-120"/>
              </a:rPr>
              <a:t>The OEM and Energy-Spout have refined the terminology from “Hydrogen Magnetic” to Plasmonic Hydrogen Power Generator. This revision reflects the plasmonic nanoscience that captures and amplifies light at the nanoscale to generate hydrogen and continuous clean power.</a:t>
            </a:r>
            <a:endParaRPr lang="en-US" sz="1630" dirty="0"/>
          </a:p>
        </p:txBody>
      </p:sp>
      <p:sp>
        <p:nvSpPr>
          <p:cNvPr id="24" name="Shape 22"/>
          <p:cNvSpPr/>
          <p:nvPr/>
        </p:nvSpPr>
        <p:spPr>
          <a:xfrm>
            <a:off x="11521440" y="1755648"/>
            <a:ext cx="6035040" cy="2331720"/>
          </a:xfrm>
          <a:prstGeom prst="roundRect">
            <a:avLst/>
          </a:prstGeom>
          <a:solidFill>
            <a:srgbClr val="FFFFFF"/>
          </a:solidFill>
          <a:ln w="12700">
            <a:solidFill>
              <a:srgbClr val="D9D2C6"/>
            </a:solidFill>
            <a:prstDash val="solid"/>
          </a:ln>
        </p:spPr>
      </p:sp>
      <p:sp>
        <p:nvSpPr>
          <p:cNvPr id="25" name="Text 23"/>
          <p:cNvSpPr/>
          <p:nvPr/>
        </p:nvSpPr>
        <p:spPr>
          <a:xfrm>
            <a:off x="11686032" y="19019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Overview</a:t>
            </a:r>
            <a:endParaRPr lang="en-US" sz="1200" dirty="0"/>
          </a:p>
        </p:txBody>
      </p:sp>
      <p:sp>
        <p:nvSpPr>
          <p:cNvPr id="26" name="Text 24"/>
          <p:cNvSpPr/>
          <p:nvPr/>
        </p:nvSpPr>
        <p:spPr>
          <a:xfrm>
            <a:off x="11686032" y="2157984"/>
            <a:ext cx="5669280" cy="18196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The system combines plasmonics with hydrogen production and power generation to deliver efficiency, durability, and scalability in renewable conversion.</a:t>
            </a:r>
            <a:endParaRPr lang="en-US" sz="1350" dirty="0"/>
          </a:p>
        </p:txBody>
      </p:sp>
      <p:sp>
        <p:nvSpPr>
          <p:cNvPr id="27" name="Shape 25"/>
          <p:cNvSpPr/>
          <p:nvPr/>
        </p:nvSpPr>
        <p:spPr>
          <a:xfrm>
            <a:off x="11521440" y="4270248"/>
            <a:ext cx="6035040" cy="2331720"/>
          </a:xfrm>
          <a:prstGeom prst="roundRect">
            <a:avLst/>
          </a:prstGeom>
          <a:solidFill>
            <a:srgbClr val="FFFFFF"/>
          </a:solidFill>
          <a:ln w="12700">
            <a:solidFill>
              <a:srgbClr val="D9D2C6"/>
            </a:solidFill>
            <a:prstDash val="solid"/>
          </a:ln>
        </p:spPr>
      </p:sp>
      <p:sp>
        <p:nvSpPr>
          <p:cNvPr id="28" name="Text 26"/>
          <p:cNvSpPr/>
          <p:nvPr/>
        </p:nvSpPr>
        <p:spPr>
          <a:xfrm>
            <a:off x="11686032" y="44165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Core Function</a:t>
            </a:r>
            <a:endParaRPr lang="en-US" sz="1200" dirty="0"/>
          </a:p>
        </p:txBody>
      </p:sp>
      <p:sp>
        <p:nvSpPr>
          <p:cNvPr id="29" name="Text 27"/>
          <p:cNvSpPr/>
          <p:nvPr/>
        </p:nvSpPr>
        <p:spPr>
          <a:xfrm>
            <a:off x="11686032" y="4672584"/>
            <a:ext cx="5669280" cy="18196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Plasmonic nanostructures concentrate light energy and enhance catalytic reactions to split water into hydrogen and oxygen using sunlight or low-grade thermal energy.</a:t>
            </a:r>
            <a:endParaRPr lang="en-US" sz="1350" dirty="0"/>
          </a:p>
        </p:txBody>
      </p:sp>
      <p:sp>
        <p:nvSpPr>
          <p:cNvPr id="30" name="Shape 28"/>
          <p:cNvSpPr/>
          <p:nvPr/>
        </p:nvSpPr>
        <p:spPr>
          <a:xfrm>
            <a:off x="11521440" y="6784848"/>
            <a:ext cx="6035040" cy="2331720"/>
          </a:xfrm>
          <a:prstGeom prst="roundRect">
            <a:avLst/>
          </a:prstGeom>
          <a:solidFill>
            <a:srgbClr val="FFFFFF"/>
          </a:solidFill>
          <a:ln w="12700">
            <a:solidFill>
              <a:srgbClr val="D9D2C6"/>
            </a:solidFill>
            <a:prstDash val="solid"/>
          </a:ln>
        </p:spPr>
      </p:sp>
      <p:sp>
        <p:nvSpPr>
          <p:cNvPr id="31" name="Text 29"/>
          <p:cNvSpPr/>
          <p:nvPr/>
        </p:nvSpPr>
        <p:spPr>
          <a:xfrm>
            <a:off x="11686032" y="69311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Power Output</a:t>
            </a:r>
            <a:endParaRPr lang="en-US" sz="1200" dirty="0"/>
          </a:p>
        </p:txBody>
      </p:sp>
      <p:sp>
        <p:nvSpPr>
          <p:cNvPr id="32" name="Text 30"/>
          <p:cNvSpPr/>
          <p:nvPr/>
        </p:nvSpPr>
        <p:spPr>
          <a:xfrm>
            <a:off x="11686032" y="7187184"/>
            <a:ext cx="5669280" cy="18196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When paired with a high-efficiency fuel cell or direct hydrogen combustion module, the result is continuous clean electricity with no dependence on fossil fuels.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02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C7D8BE"/>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How It Works</a:t>
            </a:r>
            <a:endParaRPr lang="en-US" sz="4200" dirty="0"/>
          </a:p>
        </p:txBody>
      </p:sp>
      <p:sp>
        <p:nvSpPr>
          <p:cNvPr id="22" name="Text 20"/>
          <p:cNvSpPr/>
          <p:nvPr/>
        </p:nvSpPr>
        <p:spPr>
          <a:xfrm>
            <a:off x="804672" y="2670048"/>
            <a:ext cx="9692640" cy="5989320"/>
          </a:xfrm>
          <a:prstGeom prst="rect">
            <a:avLst/>
          </a:prstGeom>
          <a:noFill/>
          <a:ln/>
        </p:spPr>
        <p:txBody>
          <a:bodyPr wrap="square" rtlCol="0" anchor="t">
            <a:normAutofit/>
          </a:bodyPr>
          <a:lstStyle/>
          <a:p>
            <a:pPr indent="0" marL="0">
              <a:buNone/>
            </a:pPr>
            <a:r>
              <a:rPr lang="en-US" sz="1530" dirty="0">
                <a:solidFill>
                  <a:srgbClr val="20252B"/>
                </a:solidFill>
                <a:latin typeface="DM Sans" pitchFamily="34" charset="0"/>
                <a:ea typeface="DM Sans" pitchFamily="34" charset="-122"/>
                <a:cs typeface="DM Sans" pitchFamily="34" charset="-120"/>
              </a:rPr>
              <a:t>By integrating plasmonic nanophotonics with advanced hydrogen generation and fuel-cell systems, the Plasmonic Hydrogen Power Generator converts light and thermal energy directly into electrical power.</a:t>
            </a:r>
            <a:endParaRPr lang="en-US" sz="1530" dirty="0"/>
          </a:p>
          <a:p>
            <a:pPr indent="0" marL="0">
              <a:buNone/>
            </a:pPr>
            <a:endParaRPr lang="en-US" sz="1530" dirty="0"/>
          </a:p>
          <a:p>
            <a:pPr indent="0" marL="0">
              <a:buNone/>
            </a:pPr>
            <a:r>
              <a:rPr lang="en-US" sz="1530" dirty="0">
                <a:solidFill>
                  <a:srgbClr val="20252B"/>
                </a:solidFill>
                <a:latin typeface="DM Sans" pitchFamily="34" charset="0"/>
                <a:ea typeface="DM Sans" pitchFamily="34" charset="-122"/>
                <a:cs typeface="DM Sans" pitchFamily="34" charset="-120"/>
              </a:rPr>
              <a:t>Plasmonic nanoparticles, engineered metallic structures that amplify electromagnetic fields, enhance catalytic water-splitting reactions and enable direct solar-to-hydrogen conversion with minimal energy loss.</a:t>
            </a:r>
            <a:endParaRPr lang="en-US" sz="1530" dirty="0"/>
          </a:p>
          <a:p>
            <a:pPr indent="0" marL="0">
              <a:buNone/>
            </a:pPr>
            <a:endParaRPr lang="en-US" sz="1530" dirty="0"/>
          </a:p>
          <a:p>
            <a:pPr indent="0" marL="0">
              <a:buNone/>
            </a:pPr>
            <a:r>
              <a:rPr lang="en-US" sz="1530" dirty="0">
                <a:solidFill>
                  <a:srgbClr val="20252B"/>
                </a:solidFill>
                <a:latin typeface="DM Sans" pitchFamily="34" charset="0"/>
                <a:ea typeface="DM Sans" pitchFamily="34" charset="-122"/>
                <a:cs typeface="DM Sans" pitchFamily="34" charset="-120"/>
              </a:rPr>
              <a:t>Traditional photovoltaic and electrolysis systems face energy losses, bandgap limitations, and catalyst degradation. In contrast, plasmonic-enhanced hydrogen generation is described as achieving higher photon-to-fuel conversion rates, lower activation energy, and long-term operational stability.</a:t>
            </a:r>
            <a:endParaRPr lang="en-US" sz="1530" dirty="0"/>
          </a:p>
        </p:txBody>
      </p:sp>
      <p:sp>
        <p:nvSpPr>
          <p:cNvPr id="23" name="Shape 21"/>
          <p:cNvSpPr/>
          <p:nvPr/>
        </p:nvSpPr>
        <p:spPr>
          <a:xfrm>
            <a:off x="11521440" y="1801368"/>
            <a:ext cx="6035040" cy="2423160"/>
          </a:xfrm>
          <a:prstGeom prst="roundRect">
            <a:avLst/>
          </a:prstGeom>
          <a:solidFill>
            <a:srgbClr val="FFFFFF"/>
          </a:solidFill>
          <a:ln w="12700">
            <a:solidFill>
              <a:srgbClr val="D9D2C6"/>
            </a:solidFill>
            <a:prstDash val="solid"/>
          </a:ln>
        </p:spPr>
      </p:sp>
      <p:sp>
        <p:nvSpPr>
          <p:cNvPr id="24" name="Text 22"/>
          <p:cNvSpPr/>
          <p:nvPr/>
        </p:nvSpPr>
        <p:spPr>
          <a:xfrm>
            <a:off x="11686032" y="194767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Capture</a:t>
            </a:r>
            <a:endParaRPr lang="en-US" sz="1200" dirty="0"/>
          </a:p>
        </p:txBody>
      </p:sp>
      <p:sp>
        <p:nvSpPr>
          <p:cNvPr id="25" name="Text 23"/>
          <p:cNvSpPr/>
          <p:nvPr/>
        </p:nvSpPr>
        <p:spPr>
          <a:xfrm>
            <a:off x="11686032" y="2203704"/>
            <a:ext cx="5669280" cy="191109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Light and low-grade thermal energy are concentrated by plasmonic nanostructures.</a:t>
            </a:r>
            <a:endParaRPr lang="en-US" sz="1350" dirty="0"/>
          </a:p>
        </p:txBody>
      </p:sp>
      <p:sp>
        <p:nvSpPr>
          <p:cNvPr id="26" name="Shape 24"/>
          <p:cNvSpPr/>
          <p:nvPr/>
        </p:nvSpPr>
        <p:spPr>
          <a:xfrm>
            <a:off x="11521440" y="4407408"/>
            <a:ext cx="6035040" cy="2423160"/>
          </a:xfrm>
          <a:prstGeom prst="roundRect">
            <a:avLst/>
          </a:prstGeom>
          <a:solidFill>
            <a:srgbClr val="FFFFFF"/>
          </a:solidFill>
          <a:ln w="12700">
            <a:solidFill>
              <a:srgbClr val="D9D2C6"/>
            </a:solidFill>
            <a:prstDash val="solid"/>
          </a:ln>
        </p:spPr>
      </p:sp>
      <p:sp>
        <p:nvSpPr>
          <p:cNvPr id="27" name="Text 25"/>
          <p:cNvSpPr/>
          <p:nvPr/>
        </p:nvSpPr>
        <p:spPr>
          <a:xfrm>
            <a:off x="11686032" y="455371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Convert</a:t>
            </a:r>
            <a:endParaRPr lang="en-US" sz="1200" dirty="0"/>
          </a:p>
        </p:txBody>
      </p:sp>
      <p:sp>
        <p:nvSpPr>
          <p:cNvPr id="28" name="Text 26"/>
          <p:cNvSpPr/>
          <p:nvPr/>
        </p:nvSpPr>
        <p:spPr>
          <a:xfrm>
            <a:off x="11686032" y="4809744"/>
            <a:ext cx="5669280" cy="191109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Catalytic reactions split water molecules into hydrogen and oxygen.</a:t>
            </a:r>
            <a:endParaRPr lang="en-US" sz="1350" dirty="0"/>
          </a:p>
        </p:txBody>
      </p:sp>
      <p:sp>
        <p:nvSpPr>
          <p:cNvPr id="29" name="Shape 27"/>
          <p:cNvSpPr/>
          <p:nvPr/>
        </p:nvSpPr>
        <p:spPr>
          <a:xfrm>
            <a:off x="11521440" y="7013448"/>
            <a:ext cx="6035040" cy="2103120"/>
          </a:xfrm>
          <a:prstGeom prst="roundRect">
            <a:avLst/>
          </a:prstGeom>
          <a:solidFill>
            <a:srgbClr val="FFFFFF"/>
          </a:solidFill>
          <a:ln w="12700">
            <a:solidFill>
              <a:srgbClr val="D9D2C6"/>
            </a:solidFill>
            <a:prstDash val="solid"/>
          </a:ln>
        </p:spPr>
      </p:sp>
      <p:sp>
        <p:nvSpPr>
          <p:cNvPr id="30" name="Text 28"/>
          <p:cNvSpPr/>
          <p:nvPr/>
        </p:nvSpPr>
        <p:spPr>
          <a:xfrm>
            <a:off x="11686032" y="71597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Deliver</a:t>
            </a:r>
            <a:endParaRPr lang="en-US" sz="1200" dirty="0"/>
          </a:p>
        </p:txBody>
      </p:sp>
      <p:sp>
        <p:nvSpPr>
          <p:cNvPr id="31" name="Text 29"/>
          <p:cNvSpPr/>
          <p:nvPr/>
        </p:nvSpPr>
        <p:spPr>
          <a:xfrm>
            <a:off x="11686032" y="7415784"/>
            <a:ext cx="5669280" cy="15910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Hydrogen can be stored for later use or utilized immediately for continuous day/night power generation.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03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C7D8BE"/>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Key Advantages</a:t>
            </a:r>
            <a:endParaRPr lang="en-US" sz="4200" dirty="0"/>
          </a:p>
        </p:txBody>
      </p:sp>
      <p:sp>
        <p:nvSpPr>
          <p:cNvPr id="22" name="Text 20"/>
          <p:cNvSpPr/>
          <p:nvPr/>
        </p:nvSpPr>
        <p:spPr>
          <a:xfrm>
            <a:off x="822960" y="2578608"/>
            <a:ext cx="9646920" cy="320040"/>
          </a:xfrm>
          <a:prstGeom prst="rect">
            <a:avLst/>
          </a:prstGeom>
          <a:noFill/>
          <a:ln/>
        </p:spPr>
        <p:txBody>
          <a:bodyPr wrap="square" rtlCol="0" anchor="t">
            <a:normAutofit/>
          </a:bodyPr>
          <a:lstStyle/>
          <a:p>
            <a:pPr indent="0" marL="0">
              <a:buNone/>
            </a:pPr>
            <a:r>
              <a:rPr lang="en-US" sz="1750" b="1" dirty="0">
                <a:solidFill>
                  <a:srgbClr val="20252B"/>
                </a:solidFill>
                <a:latin typeface="DM Sans" pitchFamily="34" charset="0"/>
                <a:ea typeface="DM Sans" pitchFamily="34" charset="-122"/>
                <a:cs typeface="DM Sans" pitchFamily="34" charset="-120"/>
              </a:rPr>
              <a:t>Core performance and deployment benefits</a:t>
            </a:r>
            <a:endParaRPr lang="en-US" sz="1750" dirty="0"/>
          </a:p>
        </p:txBody>
      </p:sp>
      <p:sp>
        <p:nvSpPr>
          <p:cNvPr id="23" name="Text 21"/>
          <p:cNvSpPr/>
          <p:nvPr/>
        </p:nvSpPr>
        <p:spPr>
          <a:xfrm>
            <a:off x="841248" y="3081528"/>
            <a:ext cx="9665208" cy="6217920"/>
          </a:xfrm>
          <a:prstGeom prst="rect">
            <a:avLst/>
          </a:prstGeom>
          <a:noFill/>
          <a:ln/>
        </p:spPr>
        <p:txBody>
          <a:bodyPr wrap="square" rtlCol="0" anchor="t">
            <a:normAutofit/>
          </a:bodyPr>
          <a:lstStyle/>
          <a:p>
            <a:pPr marL="135331" indent="-135331">
              <a:buSzPct val="100000"/>
              <a:buChar char="•"/>
            </a:pPr>
            <a:r>
              <a:rPr lang="en-US" sz="1480" dirty="0">
                <a:solidFill>
                  <a:srgbClr val="20252B"/>
                </a:solidFill>
                <a:latin typeface="DM Sans" pitchFamily="34" charset="0"/>
                <a:ea typeface="DM Sans" pitchFamily="34" charset="-122"/>
                <a:cs typeface="DM Sans" pitchFamily="34" charset="-120"/>
              </a:rPr>
              <a:t>Unmatched Energy Efficiency — Plasmonic materials convert light into chemical energy with higher efficiency than conventional photovoltaic or thermal systems.
</a:t>
            </a:r>
            <a:endParaRPr lang="en-US" sz="1480" dirty="0"/>
          </a:p>
          <a:p>
            <a:pPr marL="135331" indent="-135331">
              <a:buSzPct val="100000"/>
              <a:buChar char="•"/>
            </a:pPr>
            <a:r>
              <a:rPr lang="en-US" sz="1480" dirty="0">
                <a:solidFill>
                  <a:srgbClr val="20252B"/>
                </a:solidFill>
                <a:latin typeface="DM Sans" pitchFamily="34" charset="0"/>
                <a:ea typeface="DM Sans" pitchFamily="34" charset="-122"/>
                <a:cs typeface="DM Sans" pitchFamily="34" charset="-120"/>
              </a:rPr>
              <a:t>Continuous, On-Demand Power — Hydrogen storage allows uninterrupted operation, overcoming intermittency.
</a:t>
            </a:r>
            <a:endParaRPr lang="en-US" sz="1480" dirty="0"/>
          </a:p>
          <a:p>
            <a:pPr marL="135331" indent="-135331">
              <a:buSzPct val="100000"/>
              <a:buChar char="•"/>
            </a:pPr>
            <a:r>
              <a:rPr lang="en-US" sz="1480" dirty="0">
                <a:solidFill>
                  <a:srgbClr val="20252B"/>
                </a:solidFill>
                <a:latin typeface="DM Sans" pitchFamily="34" charset="0"/>
                <a:ea typeface="DM Sans" pitchFamily="34" charset="-122"/>
                <a:cs typeface="DM Sans" pitchFamily="34" charset="-120"/>
              </a:rPr>
              <a:t>True Zero-Emission Operation — The only by-product is pure water vapor.
</a:t>
            </a:r>
            <a:endParaRPr lang="en-US" sz="1480" dirty="0"/>
          </a:p>
          <a:p>
            <a:pPr marL="135331" indent="-135331">
              <a:buSzPct val="100000"/>
              <a:buChar char="•"/>
            </a:pPr>
            <a:r>
              <a:rPr lang="en-US" sz="1480" dirty="0">
                <a:solidFill>
                  <a:srgbClr val="20252B"/>
                </a:solidFill>
                <a:latin typeface="DM Sans" pitchFamily="34" charset="0"/>
                <a:ea typeface="DM Sans" pitchFamily="34" charset="-122"/>
                <a:cs typeface="DM Sans" pitchFamily="34" charset="-120"/>
              </a:rPr>
              <a:t>Extended Catalyst Longevity — Plasmonic nanostructures resist oxidation and thermal degradation.
</a:t>
            </a:r>
            <a:endParaRPr lang="en-US" sz="1480" dirty="0"/>
          </a:p>
          <a:p>
            <a:pPr marL="135331" indent="-135331">
              <a:buSzPct val="100000"/>
              <a:buChar char="•"/>
            </a:pPr>
            <a:r>
              <a:rPr lang="en-US" sz="1480" dirty="0">
                <a:solidFill>
                  <a:srgbClr val="20252B"/>
                </a:solidFill>
                <a:latin typeface="DM Sans" pitchFamily="34" charset="0"/>
                <a:ea typeface="DM Sans" pitchFamily="34" charset="-122"/>
                <a:cs typeface="DM Sans" pitchFamily="34" charset="-120"/>
              </a:rPr>
              <a:t>Compact, Modular Architecture — Adaptable from residential-scale to industrial or grid-level systems.
</a:t>
            </a:r>
            <a:endParaRPr lang="en-US" sz="1480" dirty="0"/>
          </a:p>
        </p:txBody>
      </p:sp>
      <p:sp>
        <p:nvSpPr>
          <p:cNvPr id="24" name="Shape 22"/>
          <p:cNvSpPr/>
          <p:nvPr/>
        </p:nvSpPr>
        <p:spPr>
          <a:xfrm>
            <a:off x="11521440" y="1847088"/>
            <a:ext cx="6035040" cy="3566160"/>
          </a:xfrm>
          <a:prstGeom prst="roundRect">
            <a:avLst/>
          </a:prstGeom>
          <a:solidFill>
            <a:srgbClr val="FFFFFF"/>
          </a:solidFill>
          <a:ln w="12700">
            <a:solidFill>
              <a:srgbClr val="D9D2C6"/>
            </a:solidFill>
            <a:prstDash val="solid"/>
          </a:ln>
        </p:spPr>
      </p:sp>
      <p:sp>
        <p:nvSpPr>
          <p:cNvPr id="25" name="Text 23"/>
          <p:cNvSpPr/>
          <p:nvPr/>
        </p:nvSpPr>
        <p:spPr>
          <a:xfrm>
            <a:off x="11686032" y="199339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Scalability + Durability</a:t>
            </a:r>
            <a:endParaRPr lang="en-US" sz="1200" dirty="0"/>
          </a:p>
        </p:txBody>
      </p:sp>
      <p:sp>
        <p:nvSpPr>
          <p:cNvPr id="26" name="Text 24"/>
          <p:cNvSpPr/>
          <p:nvPr/>
        </p:nvSpPr>
        <p:spPr>
          <a:xfrm>
            <a:off x="11686032" y="2249424"/>
            <a:ext cx="5669280" cy="305409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Scalability and Modularity: deployed from compact community units to megawatt-class installations.</a:t>
            </a:r>
            <a:endParaRPr lang="en-US" sz="1350" dirty="0"/>
          </a:p>
          <a:p>
            <a:pPr indent="0" marL="0">
              <a:buNone/>
            </a:pPr>
            <a:endParaRPr lang="en-US" sz="1350" dirty="0"/>
          </a:p>
          <a:p>
            <a:pPr indent="0" marL="0">
              <a:buNone/>
            </a:pPr>
            <a:r>
              <a:rPr lang="en-US" sz="1350" dirty="0">
                <a:solidFill>
                  <a:srgbClr val="20252B"/>
                </a:solidFill>
                <a:latin typeface="DM Sans" pitchFamily="34" charset="0"/>
                <a:ea typeface="DM Sans" pitchFamily="34" charset="-122"/>
                <a:cs typeface="DM Sans" pitchFamily="34" charset="-120"/>
              </a:rPr>
              <a:t>Enhanced Durability and Low Maintenance: stable catalysts reduce replacement costs versus conventional systems.</a:t>
            </a:r>
            <a:endParaRPr lang="en-US" sz="1350" dirty="0"/>
          </a:p>
        </p:txBody>
      </p:sp>
      <p:sp>
        <p:nvSpPr>
          <p:cNvPr id="27" name="Shape 25"/>
          <p:cNvSpPr/>
          <p:nvPr/>
        </p:nvSpPr>
        <p:spPr>
          <a:xfrm>
            <a:off x="11521440" y="5641848"/>
            <a:ext cx="6035040" cy="3566160"/>
          </a:xfrm>
          <a:prstGeom prst="roundRect">
            <a:avLst/>
          </a:prstGeom>
          <a:solidFill>
            <a:srgbClr val="FFFFFF"/>
          </a:solidFill>
          <a:ln w="12700">
            <a:solidFill>
              <a:srgbClr val="D9D2C6"/>
            </a:solidFill>
            <a:prstDash val="solid"/>
          </a:ln>
        </p:spPr>
      </p:sp>
      <p:sp>
        <p:nvSpPr>
          <p:cNvPr id="28" name="Text 26"/>
          <p:cNvSpPr/>
          <p:nvPr/>
        </p:nvSpPr>
        <p:spPr>
          <a:xfrm>
            <a:off x="11686032" y="57881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Operations</a:t>
            </a:r>
            <a:endParaRPr lang="en-US" sz="1200" dirty="0"/>
          </a:p>
        </p:txBody>
      </p:sp>
      <p:sp>
        <p:nvSpPr>
          <p:cNvPr id="29" name="Text 27"/>
          <p:cNvSpPr/>
          <p:nvPr/>
        </p:nvSpPr>
        <p:spPr>
          <a:xfrm>
            <a:off x="11686032" y="6044184"/>
            <a:ext cx="5669280" cy="305409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Hydrogen produced through this process can be stored for later use or utilized immediately, supporting continuous, zero-emission power generation day or night, regardless of weather conditions.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04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C7D8BE"/>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System-Level Value</a:t>
            </a:r>
            <a:endParaRPr lang="en-US" sz="4200" dirty="0"/>
          </a:p>
        </p:txBody>
      </p:sp>
      <p:sp>
        <p:nvSpPr>
          <p:cNvPr id="22" name="Text 20"/>
          <p:cNvSpPr/>
          <p:nvPr/>
        </p:nvSpPr>
        <p:spPr>
          <a:xfrm>
            <a:off x="841248" y="2807208"/>
            <a:ext cx="9665208" cy="4206240"/>
          </a:xfrm>
          <a:prstGeom prst="rect">
            <a:avLst/>
          </a:prstGeom>
          <a:noFill/>
          <a:ln/>
        </p:spPr>
        <p:txBody>
          <a:bodyPr wrap="square" rtlCol="0" anchor="t">
            <a:normAutofit/>
          </a:bodyPr>
          <a:lstStyle/>
          <a:p>
            <a:pPr marL="138989" indent="-138989">
              <a:buSzPct val="100000"/>
              <a:buChar char="•"/>
            </a:pPr>
            <a:r>
              <a:rPr lang="en-US" sz="1520" dirty="0">
                <a:solidFill>
                  <a:srgbClr val="20252B"/>
                </a:solidFill>
                <a:latin typeface="DM Sans" pitchFamily="34" charset="0"/>
                <a:ea typeface="DM Sans" pitchFamily="34" charset="-122"/>
                <a:cs typeface="DM Sans" pitchFamily="34" charset="-120"/>
              </a:rPr>
              <a:t>Energy Independence and Security — By generating hydrogen fuel locally from water and sunlight, nations and communities can reduce dependence on imported fossil fuels.
</a:t>
            </a:r>
            <a:endParaRPr lang="en-US" sz="1520" dirty="0"/>
          </a:p>
          <a:p>
            <a:pPr marL="138989" indent="-138989">
              <a:buSzPct val="100000"/>
              <a:buChar char="•"/>
            </a:pPr>
            <a:r>
              <a:rPr lang="en-US" sz="1520" dirty="0">
                <a:solidFill>
                  <a:srgbClr val="20252B"/>
                </a:solidFill>
                <a:latin typeface="DM Sans" pitchFamily="34" charset="0"/>
                <a:ea typeface="DM Sans" pitchFamily="34" charset="-122"/>
                <a:cs typeface="DM Sans" pitchFamily="34" charset="-120"/>
              </a:rPr>
              <a:t>Future-Proof Integration — Compatible with existing hydrogen infrastructure, electric grids, and renewable platforms.
</a:t>
            </a:r>
            <a:endParaRPr lang="en-US" sz="1520" dirty="0"/>
          </a:p>
          <a:p>
            <a:pPr marL="138989" indent="-138989">
              <a:buSzPct val="100000"/>
              <a:buChar char="•"/>
            </a:pPr>
            <a:r>
              <a:rPr lang="en-US" sz="1520" dirty="0">
                <a:solidFill>
                  <a:srgbClr val="20252B"/>
                </a:solidFill>
                <a:latin typeface="DM Sans" pitchFamily="34" charset="0"/>
                <a:ea typeface="DM Sans" pitchFamily="34" charset="-122"/>
                <a:cs typeface="DM Sans" pitchFamily="34" charset="-120"/>
              </a:rPr>
              <a:t>Carbon-Free Cycle — From hydrogen production through power output, every stage is described as operating with zero greenhouse-gas emissions.
</a:t>
            </a:r>
            <a:endParaRPr lang="en-US" sz="1520" dirty="0"/>
          </a:p>
        </p:txBody>
      </p:sp>
      <p:sp>
        <p:nvSpPr>
          <p:cNvPr id="23" name="Shape 21"/>
          <p:cNvSpPr/>
          <p:nvPr/>
        </p:nvSpPr>
        <p:spPr>
          <a:xfrm>
            <a:off x="11521440" y="1801368"/>
            <a:ext cx="2880360" cy="2377440"/>
          </a:xfrm>
          <a:prstGeom prst="roundRect">
            <a:avLst/>
          </a:prstGeom>
          <a:solidFill>
            <a:srgbClr val="FFFFFF"/>
          </a:solidFill>
          <a:ln w="12700">
            <a:solidFill>
              <a:srgbClr val="D9D2C6"/>
            </a:solidFill>
            <a:prstDash val="solid"/>
          </a:ln>
        </p:spPr>
      </p:sp>
      <p:sp>
        <p:nvSpPr>
          <p:cNvPr id="24" name="Text 22"/>
          <p:cNvSpPr/>
          <p:nvPr/>
        </p:nvSpPr>
        <p:spPr>
          <a:xfrm>
            <a:off x="11667744" y="1929384"/>
            <a:ext cx="2587752" cy="219456"/>
          </a:xfrm>
          <a:prstGeom prst="rect">
            <a:avLst/>
          </a:prstGeom>
          <a:noFill/>
          <a:ln/>
        </p:spPr>
        <p:txBody>
          <a:bodyPr wrap="square" rtlCol="0" anchor="ctr"/>
          <a:lstStyle/>
          <a:p>
            <a:pPr indent="0" marL="0">
              <a:buNone/>
            </a:pPr>
            <a:r>
              <a:rPr lang="en-US" sz="1220" b="1" dirty="0">
                <a:solidFill>
                  <a:srgbClr val="1E5A2A"/>
                </a:solidFill>
                <a:latin typeface="DM Sans" pitchFamily="34" charset="0"/>
                <a:ea typeface="DM Sans" pitchFamily="34" charset="-122"/>
                <a:cs typeface="DM Sans" pitchFamily="34" charset="-120"/>
              </a:rPr>
              <a:t>Independence</a:t>
            </a:r>
            <a:endParaRPr lang="en-US" sz="1220" dirty="0"/>
          </a:p>
        </p:txBody>
      </p:sp>
      <p:sp>
        <p:nvSpPr>
          <p:cNvPr id="25" name="Text 23"/>
          <p:cNvSpPr/>
          <p:nvPr/>
        </p:nvSpPr>
        <p:spPr>
          <a:xfrm>
            <a:off x="11667744" y="2203704"/>
            <a:ext cx="2587752" cy="1865376"/>
          </a:xfrm>
          <a:prstGeom prst="rect">
            <a:avLst/>
          </a:prstGeom>
          <a:noFill/>
          <a:ln/>
        </p:spPr>
        <p:txBody>
          <a:bodyPr wrap="square" rtlCol="0" anchor="ctr">
            <a:normAutofit/>
          </a:bodyPr>
          <a:lstStyle/>
          <a:p>
            <a:pPr indent="0" marL="0">
              <a:buNone/>
            </a:pPr>
            <a:r>
              <a:rPr lang="en-US" sz="1320" dirty="0">
                <a:solidFill>
                  <a:srgbClr val="20252B"/>
                </a:solidFill>
                <a:latin typeface="DM Sans" pitchFamily="34" charset="0"/>
                <a:ea typeface="DM Sans" pitchFamily="34" charset="-122"/>
                <a:cs typeface="DM Sans" pitchFamily="34" charset="-120"/>
              </a:rPr>
              <a:t>Local hydrogen generation from water and sunlight</a:t>
            </a:r>
            <a:endParaRPr lang="en-US" sz="1320" dirty="0"/>
          </a:p>
        </p:txBody>
      </p:sp>
      <p:sp>
        <p:nvSpPr>
          <p:cNvPr id="26" name="Shape 24"/>
          <p:cNvSpPr/>
          <p:nvPr/>
        </p:nvSpPr>
        <p:spPr>
          <a:xfrm>
            <a:off x="14676120" y="1801368"/>
            <a:ext cx="2880360" cy="2377440"/>
          </a:xfrm>
          <a:prstGeom prst="roundRect">
            <a:avLst/>
          </a:prstGeom>
          <a:solidFill>
            <a:srgbClr val="FFFFFF"/>
          </a:solidFill>
          <a:ln w="12700">
            <a:solidFill>
              <a:srgbClr val="D9D2C6"/>
            </a:solidFill>
            <a:prstDash val="solid"/>
          </a:ln>
        </p:spPr>
      </p:sp>
      <p:sp>
        <p:nvSpPr>
          <p:cNvPr id="27" name="Text 25"/>
          <p:cNvSpPr/>
          <p:nvPr/>
        </p:nvSpPr>
        <p:spPr>
          <a:xfrm>
            <a:off x="14822424" y="1929384"/>
            <a:ext cx="2587752" cy="219456"/>
          </a:xfrm>
          <a:prstGeom prst="rect">
            <a:avLst/>
          </a:prstGeom>
          <a:noFill/>
          <a:ln/>
        </p:spPr>
        <p:txBody>
          <a:bodyPr wrap="square" rtlCol="0" anchor="ctr"/>
          <a:lstStyle/>
          <a:p>
            <a:pPr indent="0" marL="0">
              <a:buNone/>
            </a:pPr>
            <a:r>
              <a:rPr lang="en-US" sz="1220" b="1" dirty="0">
                <a:solidFill>
                  <a:srgbClr val="1E5A2A"/>
                </a:solidFill>
                <a:latin typeface="DM Sans" pitchFamily="34" charset="0"/>
                <a:ea typeface="DM Sans" pitchFamily="34" charset="-122"/>
                <a:cs typeface="DM Sans" pitchFamily="34" charset="-120"/>
              </a:rPr>
              <a:t>Integration</a:t>
            </a:r>
            <a:endParaRPr lang="en-US" sz="1220" dirty="0"/>
          </a:p>
        </p:txBody>
      </p:sp>
      <p:sp>
        <p:nvSpPr>
          <p:cNvPr id="28" name="Text 26"/>
          <p:cNvSpPr/>
          <p:nvPr/>
        </p:nvSpPr>
        <p:spPr>
          <a:xfrm>
            <a:off x="14822424" y="2203704"/>
            <a:ext cx="2587752" cy="1865376"/>
          </a:xfrm>
          <a:prstGeom prst="rect">
            <a:avLst/>
          </a:prstGeom>
          <a:noFill/>
          <a:ln/>
        </p:spPr>
        <p:txBody>
          <a:bodyPr wrap="square" rtlCol="0" anchor="ctr">
            <a:normAutofit/>
          </a:bodyPr>
          <a:lstStyle/>
          <a:p>
            <a:pPr indent="0" marL="0">
              <a:buNone/>
            </a:pPr>
            <a:r>
              <a:rPr lang="en-US" sz="1320" dirty="0">
                <a:solidFill>
                  <a:srgbClr val="20252B"/>
                </a:solidFill>
                <a:latin typeface="DM Sans" pitchFamily="34" charset="0"/>
                <a:ea typeface="DM Sans" pitchFamily="34" charset="-122"/>
                <a:cs typeface="DM Sans" pitchFamily="34" charset="-120"/>
              </a:rPr>
              <a:t>Compatible with hydrogen infrastructure and electric grids</a:t>
            </a:r>
            <a:endParaRPr lang="en-US" sz="1320" dirty="0"/>
          </a:p>
        </p:txBody>
      </p:sp>
      <p:sp>
        <p:nvSpPr>
          <p:cNvPr id="29" name="Shape 27"/>
          <p:cNvSpPr/>
          <p:nvPr/>
        </p:nvSpPr>
        <p:spPr>
          <a:xfrm>
            <a:off x="11521440" y="4453128"/>
            <a:ext cx="2880360" cy="2377440"/>
          </a:xfrm>
          <a:prstGeom prst="roundRect">
            <a:avLst/>
          </a:prstGeom>
          <a:solidFill>
            <a:srgbClr val="FFFFFF"/>
          </a:solidFill>
          <a:ln w="12700">
            <a:solidFill>
              <a:srgbClr val="D9D2C6"/>
            </a:solidFill>
            <a:prstDash val="solid"/>
          </a:ln>
        </p:spPr>
      </p:sp>
      <p:sp>
        <p:nvSpPr>
          <p:cNvPr id="30" name="Text 28"/>
          <p:cNvSpPr/>
          <p:nvPr/>
        </p:nvSpPr>
        <p:spPr>
          <a:xfrm>
            <a:off x="11667744" y="4581144"/>
            <a:ext cx="2587752" cy="219456"/>
          </a:xfrm>
          <a:prstGeom prst="rect">
            <a:avLst/>
          </a:prstGeom>
          <a:noFill/>
          <a:ln/>
        </p:spPr>
        <p:txBody>
          <a:bodyPr wrap="square" rtlCol="0" anchor="ctr"/>
          <a:lstStyle/>
          <a:p>
            <a:pPr indent="0" marL="0">
              <a:buNone/>
            </a:pPr>
            <a:r>
              <a:rPr lang="en-US" sz="1220" b="1" dirty="0">
                <a:solidFill>
                  <a:srgbClr val="1E5A2A"/>
                </a:solidFill>
                <a:latin typeface="DM Sans" pitchFamily="34" charset="0"/>
                <a:ea typeface="DM Sans" pitchFamily="34" charset="-122"/>
                <a:cs typeface="DM Sans" pitchFamily="34" charset="-120"/>
              </a:rPr>
              <a:t>Security</a:t>
            </a:r>
            <a:endParaRPr lang="en-US" sz="1220" dirty="0"/>
          </a:p>
        </p:txBody>
      </p:sp>
      <p:sp>
        <p:nvSpPr>
          <p:cNvPr id="31" name="Text 29"/>
          <p:cNvSpPr/>
          <p:nvPr/>
        </p:nvSpPr>
        <p:spPr>
          <a:xfrm>
            <a:off x="11667744" y="4855464"/>
            <a:ext cx="2587752" cy="1865376"/>
          </a:xfrm>
          <a:prstGeom prst="rect">
            <a:avLst/>
          </a:prstGeom>
          <a:noFill/>
          <a:ln/>
        </p:spPr>
        <p:txBody>
          <a:bodyPr wrap="square" rtlCol="0" anchor="ctr">
            <a:normAutofit/>
          </a:bodyPr>
          <a:lstStyle/>
          <a:p>
            <a:pPr indent="0" marL="0">
              <a:buNone/>
            </a:pPr>
            <a:r>
              <a:rPr lang="en-US" sz="1320" dirty="0">
                <a:solidFill>
                  <a:srgbClr val="20252B"/>
                </a:solidFill>
                <a:latin typeface="DM Sans" pitchFamily="34" charset="0"/>
                <a:ea typeface="DM Sans" pitchFamily="34" charset="-122"/>
                <a:cs typeface="DM Sans" pitchFamily="34" charset="-120"/>
              </a:rPr>
              <a:t>Reduced fossil-fuel dependence with local production</a:t>
            </a:r>
            <a:endParaRPr lang="en-US" sz="1320" dirty="0"/>
          </a:p>
        </p:txBody>
      </p:sp>
      <p:sp>
        <p:nvSpPr>
          <p:cNvPr id="32" name="Shape 30"/>
          <p:cNvSpPr/>
          <p:nvPr/>
        </p:nvSpPr>
        <p:spPr>
          <a:xfrm>
            <a:off x="14676120" y="4453128"/>
            <a:ext cx="2880360" cy="2377440"/>
          </a:xfrm>
          <a:prstGeom prst="roundRect">
            <a:avLst/>
          </a:prstGeom>
          <a:solidFill>
            <a:srgbClr val="FFFFFF"/>
          </a:solidFill>
          <a:ln w="12700">
            <a:solidFill>
              <a:srgbClr val="D9D2C6"/>
            </a:solidFill>
            <a:prstDash val="solid"/>
          </a:ln>
        </p:spPr>
      </p:sp>
      <p:sp>
        <p:nvSpPr>
          <p:cNvPr id="33" name="Text 31"/>
          <p:cNvSpPr/>
          <p:nvPr/>
        </p:nvSpPr>
        <p:spPr>
          <a:xfrm>
            <a:off x="14822424" y="4581144"/>
            <a:ext cx="2587752" cy="219456"/>
          </a:xfrm>
          <a:prstGeom prst="rect">
            <a:avLst/>
          </a:prstGeom>
          <a:noFill/>
          <a:ln/>
        </p:spPr>
        <p:txBody>
          <a:bodyPr wrap="square" rtlCol="0" anchor="ctr"/>
          <a:lstStyle/>
          <a:p>
            <a:pPr indent="0" marL="0">
              <a:buNone/>
            </a:pPr>
            <a:r>
              <a:rPr lang="en-US" sz="1220" b="1" dirty="0">
                <a:solidFill>
                  <a:srgbClr val="1E5A2A"/>
                </a:solidFill>
                <a:latin typeface="DM Sans" pitchFamily="34" charset="0"/>
                <a:ea typeface="DM Sans" pitchFamily="34" charset="-122"/>
                <a:cs typeface="DM Sans" pitchFamily="34" charset="-120"/>
              </a:rPr>
              <a:t>Carbon-Free Cycle</a:t>
            </a:r>
            <a:endParaRPr lang="en-US" sz="1220" dirty="0"/>
          </a:p>
        </p:txBody>
      </p:sp>
      <p:sp>
        <p:nvSpPr>
          <p:cNvPr id="34" name="Text 32"/>
          <p:cNvSpPr/>
          <p:nvPr/>
        </p:nvSpPr>
        <p:spPr>
          <a:xfrm>
            <a:off x="14822424" y="4855464"/>
            <a:ext cx="2587752" cy="1865376"/>
          </a:xfrm>
          <a:prstGeom prst="rect">
            <a:avLst/>
          </a:prstGeom>
          <a:noFill/>
          <a:ln/>
        </p:spPr>
        <p:txBody>
          <a:bodyPr wrap="square" rtlCol="0" anchor="ctr">
            <a:normAutofit/>
          </a:bodyPr>
          <a:lstStyle/>
          <a:p>
            <a:pPr indent="0" marL="0">
              <a:buNone/>
            </a:pPr>
            <a:r>
              <a:rPr lang="en-US" sz="1320" dirty="0">
                <a:solidFill>
                  <a:srgbClr val="20252B"/>
                </a:solidFill>
                <a:latin typeface="DM Sans" pitchFamily="34" charset="0"/>
                <a:ea typeface="DM Sans" pitchFamily="34" charset="-122"/>
                <a:cs typeface="DM Sans" pitchFamily="34" charset="-120"/>
              </a:rPr>
              <a:t>Zero greenhouse-gas emissions claim across the cycle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05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C7D8BE"/>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Why It’s a Game-Changer</a:t>
            </a:r>
            <a:endParaRPr lang="en-US" sz="4200" dirty="0"/>
          </a:p>
        </p:txBody>
      </p:sp>
      <p:sp>
        <p:nvSpPr>
          <p:cNvPr id="22" name="Text 20"/>
          <p:cNvSpPr/>
          <p:nvPr/>
        </p:nvSpPr>
        <p:spPr>
          <a:xfrm>
            <a:off x="804672" y="2715768"/>
            <a:ext cx="9692640" cy="3840480"/>
          </a:xfrm>
          <a:prstGeom prst="rect">
            <a:avLst/>
          </a:prstGeom>
          <a:noFill/>
          <a:ln/>
        </p:spPr>
        <p:txBody>
          <a:bodyPr wrap="square" rtlCol="0" anchor="t">
            <a:normAutofit/>
          </a:bodyPr>
          <a:lstStyle/>
          <a:p>
            <a:pPr indent="0" marL="0">
              <a:buNone/>
            </a:pPr>
            <a:r>
              <a:rPr lang="en-US" sz="1590" dirty="0">
                <a:solidFill>
                  <a:srgbClr val="20252B"/>
                </a:solidFill>
                <a:latin typeface="DM Sans" pitchFamily="34" charset="0"/>
                <a:ea typeface="DM Sans" pitchFamily="34" charset="-122"/>
                <a:cs typeface="DM Sans" pitchFamily="34" charset="-120"/>
              </a:rPr>
              <a:t>Imagine a power system that draws energy from sunlight, stores it as clean hydrogen fuel, and delivers reliable electricity anytime without pollution or carbon emissions.</a:t>
            </a:r>
            <a:endParaRPr lang="en-US" sz="1590" dirty="0"/>
          </a:p>
          <a:p>
            <a:pPr indent="0" marL="0">
              <a:buNone/>
            </a:pPr>
            <a:endParaRPr lang="en-US" sz="1590" dirty="0"/>
          </a:p>
          <a:p>
            <a:pPr indent="0" marL="0">
              <a:buNone/>
            </a:pPr>
            <a:r>
              <a:rPr lang="en-US" sz="1590" dirty="0">
                <a:solidFill>
                  <a:srgbClr val="20252B"/>
                </a:solidFill>
                <a:latin typeface="DM Sans" pitchFamily="34" charset="0"/>
                <a:ea typeface="DM Sans" pitchFamily="34" charset="-122"/>
                <a:cs typeface="DM Sans" pitchFamily="34" charset="-120"/>
              </a:rPr>
              <a:t>Unlike conventional renewables that depend on weather, this innovation stores clean energy for use anytime, ensuring 24/7 availability.</a:t>
            </a:r>
            <a:endParaRPr lang="en-US" sz="1590" dirty="0"/>
          </a:p>
          <a:p>
            <a:pPr indent="0" marL="0">
              <a:buNone/>
            </a:pPr>
            <a:endParaRPr lang="en-US" sz="1590" dirty="0"/>
          </a:p>
          <a:p>
            <a:pPr indent="0" marL="0">
              <a:buNone/>
            </a:pPr>
            <a:r>
              <a:rPr lang="en-US" sz="1590" dirty="0">
                <a:solidFill>
                  <a:srgbClr val="20252B"/>
                </a:solidFill>
                <a:latin typeface="DM Sans" pitchFamily="34" charset="0"/>
                <a:ea typeface="DM Sans" pitchFamily="34" charset="-122"/>
                <a:cs typeface="DM Sans" pitchFamily="34" charset="-120"/>
              </a:rPr>
              <a:t>It provides a flexible foundation for homes, industries, and national grids and is positioned to support energy independence.</a:t>
            </a:r>
            <a:endParaRPr lang="en-US" sz="1590" dirty="0"/>
          </a:p>
        </p:txBody>
      </p:sp>
      <p:sp>
        <p:nvSpPr>
          <p:cNvPr id="23" name="Shape 21"/>
          <p:cNvSpPr/>
          <p:nvPr/>
        </p:nvSpPr>
        <p:spPr>
          <a:xfrm>
            <a:off x="11521440" y="1801368"/>
            <a:ext cx="6035040" cy="1325880"/>
          </a:xfrm>
          <a:prstGeom prst="roundRect">
            <a:avLst/>
          </a:prstGeom>
          <a:solidFill>
            <a:srgbClr val="FFFFFF"/>
          </a:solidFill>
          <a:ln w="12700">
            <a:solidFill>
              <a:srgbClr val="D9D2C6"/>
            </a:solidFill>
            <a:prstDash val="solid"/>
          </a:ln>
        </p:spPr>
      </p:sp>
      <p:sp>
        <p:nvSpPr>
          <p:cNvPr id="24" name="Text 22"/>
          <p:cNvSpPr/>
          <p:nvPr/>
        </p:nvSpPr>
        <p:spPr>
          <a:xfrm>
            <a:off x="11686032" y="194767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Zero Emissions</a:t>
            </a:r>
            <a:endParaRPr lang="en-US" sz="1200" dirty="0"/>
          </a:p>
        </p:txBody>
      </p:sp>
      <p:sp>
        <p:nvSpPr>
          <p:cNvPr id="25" name="Text 23"/>
          <p:cNvSpPr/>
          <p:nvPr/>
        </p:nvSpPr>
        <p:spPr>
          <a:xfrm>
            <a:off x="11686032" y="2203704"/>
            <a:ext cx="5669280" cy="81381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Only water vapor is released.</a:t>
            </a:r>
            <a:endParaRPr lang="en-US" sz="1350" dirty="0"/>
          </a:p>
        </p:txBody>
      </p:sp>
      <p:sp>
        <p:nvSpPr>
          <p:cNvPr id="26" name="Shape 24"/>
          <p:cNvSpPr/>
          <p:nvPr/>
        </p:nvSpPr>
        <p:spPr>
          <a:xfrm>
            <a:off x="11521440" y="3264408"/>
            <a:ext cx="6035040" cy="1325880"/>
          </a:xfrm>
          <a:prstGeom prst="roundRect">
            <a:avLst/>
          </a:prstGeom>
          <a:solidFill>
            <a:srgbClr val="FFFFFF"/>
          </a:solidFill>
          <a:ln w="12700">
            <a:solidFill>
              <a:srgbClr val="D9D2C6"/>
            </a:solidFill>
            <a:prstDash val="solid"/>
          </a:ln>
        </p:spPr>
      </p:sp>
      <p:sp>
        <p:nvSpPr>
          <p:cNvPr id="27" name="Text 25"/>
          <p:cNvSpPr/>
          <p:nvPr/>
        </p:nvSpPr>
        <p:spPr>
          <a:xfrm>
            <a:off x="11686032" y="341071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24/7 Power</a:t>
            </a:r>
            <a:endParaRPr lang="en-US" sz="1200" dirty="0"/>
          </a:p>
        </p:txBody>
      </p:sp>
      <p:sp>
        <p:nvSpPr>
          <p:cNvPr id="28" name="Text 26"/>
          <p:cNvSpPr/>
          <p:nvPr/>
        </p:nvSpPr>
        <p:spPr>
          <a:xfrm>
            <a:off x="11686032" y="3666744"/>
            <a:ext cx="5669280" cy="81381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Sunlight stored as hydrogen for round-the-clock operation.</a:t>
            </a:r>
            <a:endParaRPr lang="en-US" sz="1350" dirty="0"/>
          </a:p>
        </p:txBody>
      </p:sp>
      <p:sp>
        <p:nvSpPr>
          <p:cNvPr id="29" name="Shape 27"/>
          <p:cNvSpPr/>
          <p:nvPr/>
        </p:nvSpPr>
        <p:spPr>
          <a:xfrm>
            <a:off x="11521440" y="4727448"/>
            <a:ext cx="6035040" cy="1325880"/>
          </a:xfrm>
          <a:prstGeom prst="roundRect">
            <a:avLst/>
          </a:prstGeom>
          <a:solidFill>
            <a:srgbClr val="FFFFFF"/>
          </a:solidFill>
          <a:ln w="12700">
            <a:solidFill>
              <a:srgbClr val="D9D2C6"/>
            </a:solidFill>
            <a:prstDash val="solid"/>
          </a:ln>
        </p:spPr>
      </p:sp>
      <p:sp>
        <p:nvSpPr>
          <p:cNvPr id="30" name="Text 28"/>
          <p:cNvSpPr/>
          <p:nvPr/>
        </p:nvSpPr>
        <p:spPr>
          <a:xfrm>
            <a:off x="11686032" y="487375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Efficient and Reliable</a:t>
            </a:r>
            <a:endParaRPr lang="en-US" sz="1200" dirty="0"/>
          </a:p>
        </p:txBody>
      </p:sp>
      <p:sp>
        <p:nvSpPr>
          <p:cNvPr id="31" name="Text 29"/>
          <p:cNvSpPr/>
          <p:nvPr/>
        </p:nvSpPr>
        <p:spPr>
          <a:xfrm>
            <a:off x="11686032" y="5129784"/>
            <a:ext cx="5669280" cy="81381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Presented as converting more energy from light than traditional solar systems.</a:t>
            </a:r>
            <a:endParaRPr lang="en-US" sz="1350" dirty="0"/>
          </a:p>
        </p:txBody>
      </p:sp>
      <p:sp>
        <p:nvSpPr>
          <p:cNvPr id="32" name="Shape 30"/>
          <p:cNvSpPr/>
          <p:nvPr/>
        </p:nvSpPr>
        <p:spPr>
          <a:xfrm>
            <a:off x="11521440" y="6190488"/>
            <a:ext cx="6035040" cy="1325880"/>
          </a:xfrm>
          <a:prstGeom prst="roundRect">
            <a:avLst/>
          </a:prstGeom>
          <a:solidFill>
            <a:srgbClr val="FFFFFF"/>
          </a:solidFill>
          <a:ln w="12700">
            <a:solidFill>
              <a:srgbClr val="D9D2C6"/>
            </a:solidFill>
            <a:prstDash val="solid"/>
          </a:ln>
        </p:spPr>
      </p:sp>
      <p:sp>
        <p:nvSpPr>
          <p:cNvPr id="33" name="Text 31"/>
          <p:cNvSpPr/>
          <p:nvPr/>
        </p:nvSpPr>
        <p:spPr>
          <a:xfrm>
            <a:off x="11686032" y="633679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Built to Last</a:t>
            </a:r>
            <a:endParaRPr lang="en-US" sz="1200" dirty="0"/>
          </a:p>
        </p:txBody>
      </p:sp>
      <p:sp>
        <p:nvSpPr>
          <p:cNvPr id="34" name="Text 32"/>
          <p:cNvSpPr/>
          <p:nvPr/>
        </p:nvSpPr>
        <p:spPr>
          <a:xfrm>
            <a:off x="11686032" y="6592824"/>
            <a:ext cx="5669280" cy="81381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Durable components minimize maintenance and downtime.</a:t>
            </a:r>
            <a:endParaRPr lang="en-US" sz="1350" dirty="0"/>
          </a:p>
        </p:txBody>
      </p:sp>
      <p:sp>
        <p:nvSpPr>
          <p:cNvPr id="35" name="Shape 33"/>
          <p:cNvSpPr/>
          <p:nvPr/>
        </p:nvSpPr>
        <p:spPr>
          <a:xfrm>
            <a:off x="11521440" y="7653528"/>
            <a:ext cx="6035040" cy="1325880"/>
          </a:xfrm>
          <a:prstGeom prst="roundRect">
            <a:avLst/>
          </a:prstGeom>
          <a:solidFill>
            <a:srgbClr val="FFFFFF"/>
          </a:solidFill>
          <a:ln w="12700">
            <a:solidFill>
              <a:srgbClr val="D9D2C6"/>
            </a:solidFill>
            <a:prstDash val="solid"/>
          </a:ln>
        </p:spPr>
      </p:sp>
      <p:sp>
        <p:nvSpPr>
          <p:cNvPr id="36" name="Text 34"/>
          <p:cNvSpPr/>
          <p:nvPr/>
        </p:nvSpPr>
        <p:spPr>
          <a:xfrm>
            <a:off x="11686032" y="779983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Energy Independence</a:t>
            </a:r>
            <a:endParaRPr lang="en-US" sz="1200" dirty="0"/>
          </a:p>
        </p:txBody>
      </p:sp>
      <p:sp>
        <p:nvSpPr>
          <p:cNvPr id="37" name="Text 35"/>
          <p:cNvSpPr/>
          <p:nvPr/>
        </p:nvSpPr>
        <p:spPr>
          <a:xfrm>
            <a:off x="11686032" y="8055864"/>
            <a:ext cx="5669280" cy="81381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Enables local clean-power production for communities and nations.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06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C7D8BE"/>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E7E2D8"/>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Pricing</a:t>
            </a:r>
            <a:endParaRPr lang="en-US" sz="4200" dirty="0"/>
          </a:p>
        </p:txBody>
      </p:sp>
      <p:sp>
        <p:nvSpPr>
          <p:cNvPr id="22" name="Shape 20"/>
          <p:cNvSpPr/>
          <p:nvPr/>
        </p:nvSpPr>
        <p:spPr>
          <a:xfrm>
            <a:off x="777240" y="2578608"/>
            <a:ext cx="9921240" cy="1874520"/>
          </a:xfrm>
          <a:prstGeom prst="roundRect">
            <a:avLst/>
          </a:prstGeom>
          <a:solidFill>
            <a:srgbClr val="FFFFFF"/>
          </a:solidFill>
          <a:ln w="12700">
            <a:solidFill>
              <a:srgbClr val="D9D2C6"/>
            </a:solidFill>
            <a:prstDash val="solid"/>
          </a:ln>
        </p:spPr>
      </p:sp>
      <p:sp>
        <p:nvSpPr>
          <p:cNvPr id="23" name="Text 21"/>
          <p:cNvSpPr/>
          <p:nvPr/>
        </p:nvSpPr>
        <p:spPr>
          <a:xfrm>
            <a:off x="932688" y="2761488"/>
            <a:ext cx="9628632" cy="1572768"/>
          </a:xfrm>
          <a:prstGeom prst="rect">
            <a:avLst/>
          </a:prstGeom>
          <a:noFill/>
          <a:ln/>
        </p:spPr>
        <p:txBody>
          <a:bodyPr wrap="square" rtlCol="0" anchor="t">
            <a:normAutofit/>
          </a:bodyPr>
          <a:lstStyle/>
          <a:p>
            <a:pPr indent="0" marL="0">
              <a:buNone/>
            </a:pPr>
            <a:r>
              <a:rPr lang="en-US" sz="1410" dirty="0">
                <a:solidFill>
                  <a:srgbClr val="20252B"/>
                </a:solidFill>
                <a:latin typeface="DM Sans" pitchFamily="34" charset="0"/>
                <a:ea typeface="DM Sans" pitchFamily="34" charset="-122"/>
                <a:cs typeface="DM Sans" pitchFamily="34" charset="-120"/>
              </a:rPr>
              <a:t>Energy Storage System (w/ Inverter)</a:t>
            </a:r>
            <a:endParaRPr lang="en-US" sz="1410" dirty="0"/>
          </a:p>
          <a:p>
            <a:pPr indent="0" marL="0">
              <a:buNone/>
            </a:pPr>
            <a:r>
              <a:rPr lang="en-US" sz="1410" dirty="0">
                <a:solidFill>
                  <a:srgbClr val="20252B"/>
                </a:solidFill>
                <a:latin typeface="DM Sans" pitchFamily="34" charset="0"/>
                <a:ea typeface="DM Sans" pitchFamily="34" charset="-122"/>
                <a:cs typeface="DM Sans" pitchFamily="34" charset="-120"/>
              </a:rPr>
              <a:t>• $10 million per MWh system cost. Generates 24 MW per day</a:t>
            </a:r>
            <a:endParaRPr lang="en-US" sz="1410" dirty="0"/>
          </a:p>
          <a:p>
            <a:pPr indent="0" marL="0">
              <a:buNone/>
            </a:pPr>
            <a:r>
              <a:rPr lang="en-US" sz="1410" dirty="0">
                <a:solidFill>
                  <a:srgbClr val="20252B"/>
                </a:solidFill>
                <a:latin typeface="DM Sans" pitchFamily="34" charset="0"/>
                <a:ea typeface="DM Sans" pitchFamily="34" charset="-122"/>
                <a:cs typeface="DM Sans" pitchFamily="34" charset="-120"/>
              </a:rPr>
              <a:t>• Up to 2 MWh per 20ft GPOD (ESS)</a:t>
            </a:r>
            <a:endParaRPr lang="en-US" sz="1410" dirty="0"/>
          </a:p>
          <a:p>
            <a:pPr indent="0" marL="0">
              <a:buNone/>
            </a:pPr>
            <a:r>
              <a:rPr lang="en-US" sz="1410" dirty="0">
                <a:solidFill>
                  <a:srgbClr val="20252B"/>
                </a:solidFill>
                <a:latin typeface="DM Sans" pitchFamily="34" charset="0"/>
                <a:ea typeface="DM Sans" pitchFamily="34" charset="-122"/>
                <a:cs typeface="DM Sans" pitchFamily="34" charset="-120"/>
              </a:rPr>
              <a:t>• Up to 4 MWh per 40ft GPOD (ESS)</a:t>
            </a:r>
            <a:endParaRPr lang="en-US" sz="1410" dirty="0"/>
          </a:p>
        </p:txBody>
      </p:sp>
      <p:sp>
        <p:nvSpPr>
          <p:cNvPr id="24" name="Shape 22"/>
          <p:cNvSpPr/>
          <p:nvPr/>
        </p:nvSpPr>
        <p:spPr>
          <a:xfrm>
            <a:off x="777240" y="4636008"/>
            <a:ext cx="9921240" cy="1965960"/>
          </a:xfrm>
          <a:prstGeom prst="roundRect">
            <a:avLst/>
          </a:prstGeom>
          <a:solidFill>
            <a:srgbClr val="FFFFFF"/>
          </a:solidFill>
          <a:ln w="12700">
            <a:solidFill>
              <a:srgbClr val="D9D2C6"/>
            </a:solidFill>
            <a:prstDash val="solid"/>
          </a:ln>
        </p:spPr>
      </p:sp>
      <p:sp>
        <p:nvSpPr>
          <p:cNvPr id="25" name="Text 23"/>
          <p:cNvSpPr/>
          <p:nvPr/>
        </p:nvSpPr>
        <p:spPr>
          <a:xfrm>
            <a:off x="932688" y="4791456"/>
            <a:ext cx="9628632" cy="1700784"/>
          </a:xfrm>
          <a:prstGeom prst="rect">
            <a:avLst/>
          </a:prstGeom>
          <a:noFill/>
          <a:ln/>
        </p:spPr>
        <p:txBody>
          <a:bodyPr wrap="square" rtlCol="0" anchor="t">
            <a:normAutofit/>
          </a:bodyPr>
          <a:lstStyle/>
          <a:p>
            <a:pPr indent="0" marL="0">
              <a:buNone/>
            </a:pPr>
            <a:r>
              <a:rPr lang="en-US" sz="1360" dirty="0">
                <a:solidFill>
                  <a:srgbClr val="20252B"/>
                </a:solidFill>
                <a:latin typeface="DM Sans" pitchFamily="34" charset="0"/>
                <a:ea typeface="DM Sans" pitchFamily="34" charset="-122"/>
                <a:cs typeface="DM Sans" pitchFamily="34" charset="-120"/>
              </a:rPr>
              <a:t>Battery Back-Up Energy Storage System (BESS)</a:t>
            </a:r>
            <a:endParaRPr lang="en-US" sz="1360" dirty="0"/>
          </a:p>
          <a:p>
            <a:pPr indent="0" marL="0">
              <a:buNone/>
            </a:pPr>
            <a:r>
              <a:rPr lang="en-US" sz="1360" dirty="0">
                <a:solidFill>
                  <a:srgbClr val="20252B"/>
                </a:solidFill>
                <a:latin typeface="DM Sans" pitchFamily="34" charset="0"/>
                <a:ea typeface="DM Sans" pitchFamily="34" charset="-122"/>
                <a:cs typeface="DM Sans" pitchFamily="34" charset="-120"/>
              </a:rPr>
              <a:t>Battery back-up system (no inverter), HVAC, and fire suppression system. Full internet access dashboard.</a:t>
            </a:r>
            <a:endParaRPr lang="en-US" sz="1360" dirty="0"/>
          </a:p>
          <a:p>
            <a:pPr indent="0" marL="0">
              <a:buNone/>
            </a:pPr>
            <a:r>
              <a:rPr lang="en-US" sz="1360" dirty="0">
                <a:solidFill>
                  <a:srgbClr val="20252B"/>
                </a:solidFill>
                <a:latin typeface="DM Sans" pitchFamily="34" charset="0"/>
                <a:ea typeface="DM Sans" pitchFamily="34" charset="-122"/>
                <a:cs typeface="DM Sans" pitchFamily="34" charset="-120"/>
              </a:rPr>
              <a:t>• $850,000 per MW</a:t>
            </a:r>
            <a:endParaRPr lang="en-US" sz="1360" dirty="0"/>
          </a:p>
          <a:p>
            <a:pPr indent="0" marL="0">
              <a:buNone/>
            </a:pPr>
            <a:r>
              <a:rPr lang="en-US" sz="1360" dirty="0">
                <a:solidFill>
                  <a:srgbClr val="20252B"/>
                </a:solidFill>
                <a:latin typeface="DM Sans" pitchFamily="34" charset="0"/>
                <a:ea typeface="DM Sans" pitchFamily="34" charset="-122"/>
                <a:cs typeface="DM Sans" pitchFamily="34" charset="-120"/>
              </a:rPr>
              <a:t>• Up to 2.5 MW per 20ft GPOD</a:t>
            </a:r>
            <a:endParaRPr lang="en-US" sz="1360" dirty="0"/>
          </a:p>
          <a:p>
            <a:pPr indent="0" marL="0">
              <a:buNone/>
            </a:pPr>
            <a:r>
              <a:rPr lang="en-US" sz="1360" dirty="0">
                <a:solidFill>
                  <a:srgbClr val="20252B"/>
                </a:solidFill>
                <a:latin typeface="DM Sans" pitchFamily="34" charset="0"/>
                <a:ea typeface="DM Sans" pitchFamily="34" charset="-122"/>
                <a:cs typeface="DM Sans" pitchFamily="34" charset="-120"/>
              </a:rPr>
              <a:t>• Up to 5 MW per 40ft GPOD</a:t>
            </a:r>
            <a:endParaRPr lang="en-US" sz="1360" dirty="0"/>
          </a:p>
        </p:txBody>
      </p:sp>
      <p:sp>
        <p:nvSpPr>
          <p:cNvPr id="26" name="Shape 24"/>
          <p:cNvSpPr/>
          <p:nvPr/>
        </p:nvSpPr>
        <p:spPr>
          <a:xfrm>
            <a:off x="777240" y="6766560"/>
            <a:ext cx="9921240" cy="1993392"/>
          </a:xfrm>
          <a:prstGeom prst="roundRect">
            <a:avLst/>
          </a:prstGeom>
          <a:solidFill>
            <a:srgbClr val="FFFFFF"/>
          </a:solidFill>
          <a:ln w="12700">
            <a:solidFill>
              <a:srgbClr val="D9D2C6"/>
            </a:solidFill>
            <a:prstDash val="solid"/>
          </a:ln>
        </p:spPr>
      </p:sp>
      <p:sp>
        <p:nvSpPr>
          <p:cNvPr id="27" name="Text 25"/>
          <p:cNvSpPr/>
          <p:nvPr/>
        </p:nvSpPr>
        <p:spPr>
          <a:xfrm>
            <a:off x="932688" y="6922008"/>
            <a:ext cx="9628632" cy="1737360"/>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Battery Back-up Energy Storage System (ESS)</a:t>
            </a:r>
            <a:endParaRPr lang="en-US" sz="1350" dirty="0"/>
          </a:p>
          <a:p>
            <a:pPr indent="0" marL="0">
              <a:buNone/>
            </a:pPr>
            <a:r>
              <a:rPr lang="en-US" sz="1350" dirty="0">
                <a:solidFill>
                  <a:srgbClr val="20252B"/>
                </a:solidFill>
                <a:latin typeface="DM Sans" pitchFamily="34" charset="0"/>
                <a:ea typeface="DM Sans" pitchFamily="34" charset="-122"/>
                <a:cs typeface="DM Sans" pitchFamily="34" charset="-120"/>
              </a:rPr>
              <a:t>Includes an inverter, stabilizers, HVAC, and a fire suppression system. Full internet system access dashboard.</a:t>
            </a:r>
            <a:endParaRPr lang="en-US" sz="1350" dirty="0"/>
          </a:p>
          <a:p>
            <a:pPr indent="0" marL="0">
              <a:buNone/>
            </a:pPr>
            <a:r>
              <a:rPr lang="en-US" sz="1350" dirty="0">
                <a:solidFill>
                  <a:srgbClr val="20252B"/>
                </a:solidFill>
                <a:latin typeface="DM Sans" pitchFamily="34" charset="0"/>
                <a:ea typeface="DM Sans" pitchFamily="34" charset="-122"/>
                <a:cs typeface="DM Sans" pitchFamily="34" charset="-120"/>
              </a:rPr>
              <a:t>• $1,000,000 per MW</a:t>
            </a:r>
            <a:endParaRPr lang="en-US" sz="1350" dirty="0"/>
          </a:p>
          <a:p>
            <a:pPr indent="0" marL="0">
              <a:buNone/>
            </a:pPr>
            <a:r>
              <a:rPr lang="en-US" sz="1350" dirty="0">
                <a:solidFill>
                  <a:srgbClr val="20252B"/>
                </a:solidFill>
                <a:latin typeface="DM Sans" pitchFamily="34" charset="0"/>
                <a:ea typeface="DM Sans" pitchFamily="34" charset="-122"/>
                <a:cs typeface="DM Sans" pitchFamily="34" charset="-120"/>
              </a:rPr>
              <a:t>• Up to 2 MW per 20ft GPOD</a:t>
            </a:r>
            <a:endParaRPr lang="en-US" sz="1350" dirty="0"/>
          </a:p>
          <a:p>
            <a:pPr indent="0" marL="0">
              <a:buNone/>
            </a:pPr>
            <a:r>
              <a:rPr lang="en-US" sz="1350" dirty="0">
                <a:solidFill>
                  <a:srgbClr val="20252B"/>
                </a:solidFill>
                <a:latin typeface="DM Sans" pitchFamily="34" charset="0"/>
                <a:ea typeface="DM Sans" pitchFamily="34" charset="-122"/>
                <a:cs typeface="DM Sans" pitchFamily="34" charset="-120"/>
              </a:rPr>
              <a:t>• Up to 4 MW per 40ft GPOD</a:t>
            </a:r>
            <a:endParaRPr lang="en-US" sz="1350" dirty="0"/>
          </a:p>
        </p:txBody>
      </p:sp>
      <p:sp>
        <p:nvSpPr>
          <p:cNvPr id="28" name="Shape 26"/>
          <p:cNvSpPr/>
          <p:nvPr/>
        </p:nvSpPr>
        <p:spPr>
          <a:xfrm>
            <a:off x="11521440" y="1801368"/>
            <a:ext cx="6035040" cy="2880360"/>
          </a:xfrm>
          <a:prstGeom prst="roundRect">
            <a:avLst/>
          </a:prstGeom>
          <a:solidFill>
            <a:srgbClr val="FFFFFF"/>
          </a:solidFill>
          <a:ln w="12700">
            <a:solidFill>
              <a:srgbClr val="D9D2C6"/>
            </a:solidFill>
            <a:prstDash val="solid"/>
          </a:ln>
        </p:spPr>
      </p:sp>
      <p:sp>
        <p:nvSpPr>
          <p:cNvPr id="29" name="Text 27"/>
          <p:cNvSpPr/>
          <p:nvPr/>
        </p:nvSpPr>
        <p:spPr>
          <a:xfrm>
            <a:off x="11686032" y="194767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Capital Cost (CAPEX)</a:t>
            </a:r>
            <a:endParaRPr lang="en-US" sz="1200" dirty="0"/>
          </a:p>
        </p:txBody>
      </p:sp>
      <p:sp>
        <p:nvSpPr>
          <p:cNvPr id="30" name="Text 28"/>
          <p:cNvSpPr/>
          <p:nvPr/>
        </p:nvSpPr>
        <p:spPr>
          <a:xfrm>
            <a:off x="11686032" y="2203704"/>
            <a:ext cx="5669280" cy="236829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$11,000,000 for a 1MWh contiguous power generation and 1MW of battery storage.</a:t>
            </a:r>
            <a:endParaRPr lang="en-US" sz="1350" dirty="0"/>
          </a:p>
        </p:txBody>
      </p:sp>
      <p:sp>
        <p:nvSpPr>
          <p:cNvPr id="31" name="Shape 29"/>
          <p:cNvSpPr/>
          <p:nvPr/>
        </p:nvSpPr>
        <p:spPr>
          <a:xfrm>
            <a:off x="11521440" y="4910328"/>
            <a:ext cx="6035040" cy="2057400"/>
          </a:xfrm>
          <a:prstGeom prst="roundRect">
            <a:avLst/>
          </a:prstGeom>
          <a:solidFill>
            <a:srgbClr val="FFFFFF"/>
          </a:solidFill>
          <a:ln w="12700">
            <a:solidFill>
              <a:srgbClr val="D9D2C6"/>
            </a:solidFill>
            <a:prstDash val="solid"/>
          </a:ln>
        </p:spPr>
      </p:sp>
      <p:sp>
        <p:nvSpPr>
          <p:cNvPr id="32" name="Text 30"/>
          <p:cNvSpPr/>
          <p:nvPr/>
        </p:nvSpPr>
        <p:spPr>
          <a:xfrm>
            <a:off x="11686032" y="505663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Operating Cost (OPEX) annually</a:t>
            </a:r>
            <a:endParaRPr lang="en-US" sz="1200" dirty="0"/>
          </a:p>
        </p:txBody>
      </p:sp>
      <p:sp>
        <p:nvSpPr>
          <p:cNvPr id="33" name="Text 31"/>
          <p:cNvSpPr/>
          <p:nvPr/>
        </p:nvSpPr>
        <p:spPr>
          <a:xfrm>
            <a:off x="11686032" y="5312664"/>
            <a:ext cx="5669280" cy="154533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$1,036,800.00 PX1</a:t>
            </a:r>
            <a:endParaRPr lang="en-US" sz="1350" dirty="0"/>
          </a:p>
        </p:txBody>
      </p:sp>
      <p:sp>
        <p:nvSpPr>
          <p:cNvPr id="34" name="Shape 32"/>
          <p:cNvSpPr/>
          <p:nvPr/>
        </p:nvSpPr>
        <p:spPr>
          <a:xfrm>
            <a:off x="11521440" y="7196328"/>
            <a:ext cx="6035040" cy="1828800"/>
          </a:xfrm>
          <a:prstGeom prst="roundRect">
            <a:avLst/>
          </a:prstGeom>
          <a:solidFill>
            <a:srgbClr val="FFFFFF"/>
          </a:solidFill>
          <a:ln w="12700">
            <a:solidFill>
              <a:srgbClr val="D9D2C6"/>
            </a:solidFill>
            <a:prstDash val="solid"/>
          </a:ln>
        </p:spPr>
      </p:sp>
      <p:sp>
        <p:nvSpPr>
          <p:cNvPr id="35" name="Text 33"/>
          <p:cNvSpPr/>
          <p:nvPr/>
        </p:nvSpPr>
        <p:spPr>
          <a:xfrm>
            <a:off x="11686032" y="734263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Pricing Note</a:t>
            </a:r>
            <a:endParaRPr lang="en-US" sz="1200" dirty="0"/>
          </a:p>
        </p:txBody>
      </p:sp>
      <p:sp>
        <p:nvSpPr>
          <p:cNvPr id="36" name="Text 34"/>
          <p:cNvSpPr/>
          <p:nvPr/>
        </p:nvSpPr>
        <p:spPr>
          <a:xfrm>
            <a:off x="11686032" y="7598664"/>
            <a:ext cx="5669280" cy="131673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Pricing values above are taken from the provided screenshot content.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8"/>
        </a:solidFill>
      </p:bgPr>
    </p:bg>
    <p:spTree>
      <p:nvGrpSpPr>
        <p:cNvPr id="1" name=""/>
        <p:cNvGrpSpPr/>
        <p:nvPr/>
      </p:nvGrpSpPr>
      <p:grpSpPr>
        <a:xfrm>
          <a:off x="0" y="0"/>
          <a:ext cx="0" cy="0"/>
          <a:chOff x="0" y="0"/>
          <a:chExt cx="0" cy="0"/>
        </a:xfrm>
      </p:grpSpPr>
      <p:sp>
        <p:nvSpPr>
          <p:cNvPr id="2" name="Shape 0"/>
          <p:cNvSpPr/>
          <p:nvPr/>
        </p:nvSpPr>
        <p:spPr>
          <a:xfrm>
            <a:off x="457200" y="274320"/>
            <a:ext cx="6035040" cy="493776"/>
          </a:xfrm>
          <a:prstGeom prst="roundRect">
            <a:avLst/>
          </a:prstGeom>
          <a:solidFill>
            <a:srgbClr val="F8F6F1"/>
          </a:solidFill>
          <a:ln w="12700">
            <a:solidFill>
              <a:srgbClr val="CFC8BA"/>
            </a:solidFill>
            <a:prstDash val="solid"/>
          </a:ln>
        </p:spPr>
      </p:sp>
      <p:sp>
        <p:nvSpPr>
          <p:cNvPr id="3" name="Text 1"/>
          <p:cNvSpPr/>
          <p:nvPr/>
        </p:nvSpPr>
        <p:spPr>
          <a:xfrm>
            <a:off x="621792" y="420624"/>
            <a:ext cx="5669280" cy="201168"/>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Plasmonic Hydrogen Power Generator</a:t>
            </a:r>
            <a:endParaRPr lang="en-US" sz="1200" dirty="0"/>
          </a:p>
        </p:txBody>
      </p:sp>
      <p:sp>
        <p:nvSpPr>
          <p:cNvPr id="4" name="Text 2"/>
          <p:cNvSpPr/>
          <p:nvPr/>
        </p:nvSpPr>
        <p:spPr>
          <a:xfrm>
            <a:off x="16184880" y="420624"/>
            <a:ext cx="1645920" cy="201168"/>
          </a:xfrm>
          <a:prstGeom prst="rect">
            <a:avLst/>
          </a:prstGeom>
          <a:noFill/>
          <a:ln/>
        </p:spPr>
        <p:txBody>
          <a:bodyPr wrap="square" rtlCol="0" anchor="ctr"/>
          <a:lstStyle/>
          <a:p>
            <a:pPr algn="r" indent="0" marL="0">
              <a:buNone/>
            </a:pPr>
            <a:r>
              <a:rPr lang="en-US" sz="1100" b="1" dirty="0">
                <a:solidFill>
                  <a:srgbClr val="3A4048"/>
                </a:solidFill>
                <a:latin typeface="DM Sans" pitchFamily="34" charset="0"/>
                <a:ea typeface="DM Sans" pitchFamily="34" charset="-122"/>
                <a:cs typeface="DM Sans" pitchFamily="34" charset="-120"/>
              </a:rPr>
              <a:t>Slide 07 / 07</a:t>
            </a:r>
            <a:endParaRPr lang="en-US" sz="1100" dirty="0"/>
          </a:p>
        </p:txBody>
      </p:sp>
      <p:sp>
        <p:nvSpPr>
          <p:cNvPr id="5" name="Shape 3"/>
          <p:cNvSpPr/>
          <p:nvPr/>
        </p:nvSpPr>
        <p:spPr>
          <a:xfrm>
            <a:off x="457200" y="868680"/>
            <a:ext cx="2148840" cy="475488"/>
          </a:xfrm>
          <a:prstGeom prst="roundRect">
            <a:avLst/>
          </a:prstGeom>
          <a:solidFill>
            <a:srgbClr val="E7E2D8"/>
          </a:solidFill>
          <a:ln w="12700">
            <a:solidFill>
              <a:srgbClr val="CFC8BA"/>
            </a:solidFill>
            <a:prstDash val="solid"/>
          </a:ln>
        </p:spPr>
      </p:sp>
      <p:sp>
        <p:nvSpPr>
          <p:cNvPr id="6" name="Text 4"/>
          <p:cNvSpPr/>
          <p:nvPr/>
        </p:nvSpPr>
        <p:spPr>
          <a:xfrm>
            <a:off x="530352" y="996696"/>
            <a:ext cx="20025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01 Overview</a:t>
            </a:r>
            <a:endParaRPr lang="en-US" sz="1050" dirty="0"/>
          </a:p>
        </p:txBody>
      </p:sp>
      <p:sp>
        <p:nvSpPr>
          <p:cNvPr id="7" name="Shape 5"/>
          <p:cNvSpPr/>
          <p:nvPr/>
        </p:nvSpPr>
        <p:spPr>
          <a:xfrm>
            <a:off x="2715768" y="868680"/>
            <a:ext cx="2468880" cy="475488"/>
          </a:xfrm>
          <a:prstGeom prst="roundRect">
            <a:avLst/>
          </a:prstGeom>
          <a:solidFill>
            <a:srgbClr val="E7E2D8"/>
          </a:solidFill>
          <a:ln w="12700">
            <a:solidFill>
              <a:srgbClr val="CFC8BA"/>
            </a:solidFill>
            <a:prstDash val="solid"/>
          </a:ln>
        </p:spPr>
      </p:sp>
      <p:sp>
        <p:nvSpPr>
          <p:cNvPr id="8" name="Text 6"/>
          <p:cNvSpPr/>
          <p:nvPr/>
        </p:nvSpPr>
        <p:spPr>
          <a:xfrm>
            <a:off x="2788920" y="996696"/>
            <a:ext cx="23225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02 How It Works</a:t>
            </a:r>
            <a:endParaRPr lang="en-US" sz="1050" dirty="0"/>
          </a:p>
        </p:txBody>
      </p:sp>
      <p:sp>
        <p:nvSpPr>
          <p:cNvPr id="9" name="Shape 7"/>
          <p:cNvSpPr/>
          <p:nvPr/>
        </p:nvSpPr>
        <p:spPr>
          <a:xfrm>
            <a:off x="5294376" y="868680"/>
            <a:ext cx="2286000" cy="475488"/>
          </a:xfrm>
          <a:prstGeom prst="roundRect">
            <a:avLst/>
          </a:prstGeom>
          <a:solidFill>
            <a:srgbClr val="E7E2D8"/>
          </a:solidFill>
          <a:ln w="12700">
            <a:solidFill>
              <a:srgbClr val="CFC8BA"/>
            </a:solidFill>
            <a:prstDash val="solid"/>
          </a:ln>
        </p:spPr>
      </p:sp>
      <p:sp>
        <p:nvSpPr>
          <p:cNvPr id="10" name="Text 8"/>
          <p:cNvSpPr/>
          <p:nvPr/>
        </p:nvSpPr>
        <p:spPr>
          <a:xfrm>
            <a:off x="5367528" y="996696"/>
            <a:ext cx="213969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03 Advantages I</a:t>
            </a:r>
            <a:endParaRPr lang="en-US" sz="1050" dirty="0"/>
          </a:p>
        </p:txBody>
      </p:sp>
      <p:sp>
        <p:nvSpPr>
          <p:cNvPr id="11" name="Shape 9"/>
          <p:cNvSpPr/>
          <p:nvPr/>
        </p:nvSpPr>
        <p:spPr>
          <a:xfrm>
            <a:off x="7690104" y="868680"/>
            <a:ext cx="2377440" cy="475488"/>
          </a:xfrm>
          <a:prstGeom prst="roundRect">
            <a:avLst/>
          </a:prstGeom>
          <a:solidFill>
            <a:srgbClr val="E7E2D8"/>
          </a:solidFill>
          <a:ln w="12700">
            <a:solidFill>
              <a:srgbClr val="CFC8BA"/>
            </a:solidFill>
            <a:prstDash val="solid"/>
          </a:ln>
        </p:spPr>
      </p:sp>
      <p:sp>
        <p:nvSpPr>
          <p:cNvPr id="12" name="Text 10"/>
          <p:cNvSpPr/>
          <p:nvPr/>
        </p:nvSpPr>
        <p:spPr>
          <a:xfrm>
            <a:off x="7763256"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04 Advantages II</a:t>
            </a:r>
            <a:endParaRPr lang="en-US" sz="1050" dirty="0"/>
          </a:p>
        </p:txBody>
      </p:sp>
      <p:sp>
        <p:nvSpPr>
          <p:cNvPr id="13" name="Shape 11"/>
          <p:cNvSpPr/>
          <p:nvPr/>
        </p:nvSpPr>
        <p:spPr>
          <a:xfrm>
            <a:off x="10177272" y="868680"/>
            <a:ext cx="2377440" cy="475488"/>
          </a:xfrm>
          <a:prstGeom prst="roundRect">
            <a:avLst/>
          </a:prstGeom>
          <a:solidFill>
            <a:srgbClr val="E7E2D8"/>
          </a:solidFill>
          <a:ln w="12700">
            <a:solidFill>
              <a:srgbClr val="CFC8BA"/>
            </a:solidFill>
            <a:prstDash val="solid"/>
          </a:ln>
        </p:spPr>
      </p:sp>
      <p:sp>
        <p:nvSpPr>
          <p:cNvPr id="14" name="Text 12"/>
          <p:cNvSpPr/>
          <p:nvPr/>
        </p:nvSpPr>
        <p:spPr>
          <a:xfrm>
            <a:off x="10250424" y="996696"/>
            <a:ext cx="223113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05 Why It Matters</a:t>
            </a:r>
            <a:endParaRPr lang="en-US" sz="1050" dirty="0"/>
          </a:p>
        </p:txBody>
      </p:sp>
      <p:sp>
        <p:nvSpPr>
          <p:cNvPr id="15" name="Shape 13"/>
          <p:cNvSpPr/>
          <p:nvPr/>
        </p:nvSpPr>
        <p:spPr>
          <a:xfrm>
            <a:off x="12664440" y="868680"/>
            <a:ext cx="1783080" cy="475488"/>
          </a:xfrm>
          <a:prstGeom prst="roundRect">
            <a:avLst/>
          </a:prstGeom>
          <a:solidFill>
            <a:srgbClr val="E7E2D8"/>
          </a:solidFill>
          <a:ln w="12700">
            <a:solidFill>
              <a:srgbClr val="CFC8BA"/>
            </a:solidFill>
            <a:prstDash val="solid"/>
          </a:ln>
        </p:spPr>
      </p:sp>
      <p:sp>
        <p:nvSpPr>
          <p:cNvPr id="16" name="Text 14"/>
          <p:cNvSpPr/>
          <p:nvPr/>
        </p:nvSpPr>
        <p:spPr>
          <a:xfrm>
            <a:off x="12737592" y="996696"/>
            <a:ext cx="1636776" cy="182880"/>
          </a:xfrm>
          <a:prstGeom prst="rect">
            <a:avLst/>
          </a:prstGeom>
          <a:noFill/>
          <a:ln/>
        </p:spPr>
        <p:txBody>
          <a:bodyPr wrap="square" rtlCol="0" anchor="ctr"/>
          <a:lstStyle/>
          <a:p>
            <a:pPr algn="ctr" indent="0" marL="0">
              <a:buNone/>
            </a:pPr>
            <a:r>
              <a:rPr lang="en-US" sz="1050" dirty="0">
                <a:solidFill>
                  <a:srgbClr val="20252B"/>
                </a:solidFill>
                <a:latin typeface="DM Sans" pitchFamily="34" charset="0"/>
                <a:ea typeface="DM Sans" pitchFamily="34" charset="-122"/>
                <a:cs typeface="DM Sans" pitchFamily="34" charset="-120"/>
              </a:rPr>
              <a:t>06 Pricing</a:t>
            </a:r>
            <a:endParaRPr lang="en-US" sz="1050" dirty="0"/>
          </a:p>
        </p:txBody>
      </p:sp>
      <p:sp>
        <p:nvSpPr>
          <p:cNvPr id="17" name="Shape 15"/>
          <p:cNvSpPr/>
          <p:nvPr/>
        </p:nvSpPr>
        <p:spPr>
          <a:xfrm>
            <a:off x="14557248" y="868680"/>
            <a:ext cx="2331720" cy="475488"/>
          </a:xfrm>
          <a:prstGeom prst="roundRect">
            <a:avLst/>
          </a:prstGeom>
          <a:solidFill>
            <a:srgbClr val="C7D8BE"/>
          </a:solidFill>
          <a:ln w="12700">
            <a:solidFill>
              <a:srgbClr val="CFC8BA"/>
            </a:solidFill>
            <a:prstDash val="solid"/>
          </a:ln>
        </p:spPr>
      </p:sp>
      <p:sp>
        <p:nvSpPr>
          <p:cNvPr id="18" name="Text 16"/>
          <p:cNvSpPr/>
          <p:nvPr/>
        </p:nvSpPr>
        <p:spPr>
          <a:xfrm>
            <a:off x="14630400" y="996696"/>
            <a:ext cx="2185416" cy="182880"/>
          </a:xfrm>
          <a:prstGeom prst="rect">
            <a:avLst/>
          </a:prstGeom>
          <a:noFill/>
          <a:ln/>
        </p:spPr>
        <p:txBody>
          <a:bodyPr wrap="square" rtlCol="0" anchor="ctr"/>
          <a:lstStyle/>
          <a:p>
            <a:pPr algn="ctr" indent="0" marL="0">
              <a:buNone/>
            </a:pPr>
            <a:r>
              <a:rPr lang="en-US" sz="1050" b="1" dirty="0">
                <a:solidFill>
                  <a:srgbClr val="1E5A2A"/>
                </a:solidFill>
                <a:latin typeface="DM Sans" pitchFamily="34" charset="0"/>
                <a:ea typeface="DM Sans" pitchFamily="34" charset="-122"/>
                <a:cs typeface="DM Sans" pitchFamily="34" charset="-120"/>
              </a:rPr>
              <a:t>07 Future Vision</a:t>
            </a:r>
            <a:endParaRPr lang="en-US" sz="1050" dirty="0"/>
          </a:p>
        </p:txBody>
      </p:sp>
      <p:sp>
        <p:nvSpPr>
          <p:cNvPr id="19" name="Shape 17"/>
          <p:cNvSpPr/>
          <p:nvPr/>
        </p:nvSpPr>
        <p:spPr>
          <a:xfrm>
            <a:off x="457200" y="1481328"/>
            <a:ext cx="10561320" cy="8348472"/>
          </a:xfrm>
          <a:prstGeom prst="roundRect">
            <a:avLst/>
          </a:prstGeom>
          <a:solidFill>
            <a:srgbClr val="FFFFFF"/>
          </a:solidFill>
          <a:ln w="12700">
            <a:solidFill>
              <a:srgbClr val="CFC8BA"/>
            </a:solidFill>
            <a:prstDash val="solid"/>
          </a:ln>
        </p:spPr>
      </p:sp>
      <p:sp>
        <p:nvSpPr>
          <p:cNvPr id="20" name="Shape 18"/>
          <p:cNvSpPr/>
          <p:nvPr/>
        </p:nvSpPr>
        <p:spPr>
          <a:xfrm>
            <a:off x="11247120" y="1481328"/>
            <a:ext cx="6583680" cy="8348472"/>
          </a:xfrm>
          <a:prstGeom prst="roundRect">
            <a:avLst/>
          </a:prstGeom>
          <a:solidFill>
            <a:srgbClr val="FFFFFF"/>
          </a:solidFill>
          <a:ln w="12700">
            <a:solidFill>
              <a:srgbClr val="CFC8BA"/>
            </a:solidFill>
            <a:prstDash val="solid"/>
          </a:ln>
        </p:spPr>
      </p:sp>
      <p:sp>
        <p:nvSpPr>
          <p:cNvPr id="21" name="Text 19"/>
          <p:cNvSpPr/>
          <p:nvPr/>
        </p:nvSpPr>
        <p:spPr>
          <a:xfrm>
            <a:off x="777240" y="1755648"/>
            <a:ext cx="9646920" cy="731520"/>
          </a:xfrm>
          <a:prstGeom prst="rect">
            <a:avLst/>
          </a:prstGeom>
          <a:noFill/>
          <a:ln/>
        </p:spPr>
        <p:txBody>
          <a:bodyPr wrap="square" rtlCol="0" anchor="t"/>
          <a:lstStyle/>
          <a:p>
            <a:pPr indent="0" marL="0">
              <a:buNone/>
            </a:pPr>
            <a:r>
              <a:rPr lang="en-US" sz="4200" dirty="0">
                <a:solidFill>
                  <a:srgbClr val="1E5A2A"/>
                </a:solidFill>
                <a:latin typeface="The Seasons" pitchFamily="34" charset="0"/>
                <a:ea typeface="The Seasons" pitchFamily="34" charset="-122"/>
                <a:cs typeface="The Seasons" pitchFamily="34" charset="-120"/>
              </a:rPr>
              <a:t>A Vision for the Future</a:t>
            </a:r>
            <a:endParaRPr lang="en-US" sz="4200" dirty="0"/>
          </a:p>
        </p:txBody>
      </p:sp>
      <p:sp>
        <p:nvSpPr>
          <p:cNvPr id="22" name="Text 20"/>
          <p:cNvSpPr/>
          <p:nvPr/>
        </p:nvSpPr>
        <p:spPr>
          <a:xfrm>
            <a:off x="804672" y="2715768"/>
            <a:ext cx="9692640" cy="4069080"/>
          </a:xfrm>
          <a:prstGeom prst="rect">
            <a:avLst/>
          </a:prstGeom>
          <a:noFill/>
          <a:ln/>
        </p:spPr>
        <p:txBody>
          <a:bodyPr wrap="square" rtlCol="0" anchor="t">
            <a:normAutofit/>
          </a:bodyPr>
          <a:lstStyle/>
          <a:p>
            <a:pPr indent="0" marL="0">
              <a:buNone/>
            </a:pPr>
            <a:r>
              <a:rPr lang="en-US" sz="1560" dirty="0">
                <a:solidFill>
                  <a:srgbClr val="20252B"/>
                </a:solidFill>
                <a:latin typeface="DM Sans" pitchFamily="34" charset="0"/>
                <a:ea typeface="DM Sans" pitchFamily="34" charset="-122"/>
                <a:cs typeface="DM Sans" pitchFamily="34" charset="-120"/>
              </a:rPr>
              <a:t>The Plasmonic Hydrogen Power Generator is presented as a transformative platform that unites advanced nanotechnology with sustainable engineering.</a:t>
            </a:r>
            <a:endParaRPr lang="en-US" sz="1560" dirty="0"/>
          </a:p>
          <a:p>
            <a:pPr indent="0" marL="0">
              <a:buNone/>
            </a:pPr>
            <a:endParaRPr lang="en-US" sz="1560" dirty="0"/>
          </a:p>
          <a:p>
            <a:pPr indent="0" marL="0">
              <a:buNone/>
            </a:pPr>
            <a:r>
              <a:rPr lang="en-US" sz="1560" dirty="0">
                <a:solidFill>
                  <a:srgbClr val="20252B"/>
                </a:solidFill>
                <a:latin typeface="DM Sans" pitchFamily="34" charset="0"/>
                <a:ea typeface="DM Sans" pitchFamily="34" charset="-122"/>
                <a:cs typeface="DM Sans" pitchFamily="34" charset="-120"/>
              </a:rPr>
              <a:t>By unlocking the full potential of hydrogen through plasmonic innovation, it offers a clean, efficient, and renewable pathway toward global energy independence.</a:t>
            </a:r>
            <a:endParaRPr lang="en-US" sz="1560" dirty="0"/>
          </a:p>
          <a:p>
            <a:pPr indent="0" marL="0">
              <a:buNone/>
            </a:pPr>
            <a:endParaRPr lang="en-US" sz="1560" dirty="0"/>
          </a:p>
          <a:p>
            <a:pPr indent="0" marL="0">
              <a:buNone/>
            </a:pPr>
            <a:r>
              <a:rPr lang="en-US" sz="1560" dirty="0">
                <a:solidFill>
                  <a:srgbClr val="20252B"/>
                </a:solidFill>
                <a:latin typeface="DM Sans" pitchFamily="34" charset="0"/>
                <a:ea typeface="DM Sans" pitchFamily="34" charset="-122"/>
                <a:cs typeface="DM Sans" pitchFamily="34" charset="-120"/>
              </a:rPr>
              <a:t>This next-generation platform is described as merging scientific precision with commercial scalability, creating a foundation for decentralized, emission-free power systems across transportation, industry, and grid applications.</a:t>
            </a:r>
            <a:endParaRPr lang="en-US" sz="1560" dirty="0"/>
          </a:p>
        </p:txBody>
      </p:sp>
      <p:sp>
        <p:nvSpPr>
          <p:cNvPr id="23" name="Shape 21"/>
          <p:cNvSpPr/>
          <p:nvPr/>
        </p:nvSpPr>
        <p:spPr>
          <a:xfrm>
            <a:off x="11521440" y="1847088"/>
            <a:ext cx="6035040" cy="2103120"/>
          </a:xfrm>
          <a:prstGeom prst="roundRect">
            <a:avLst/>
          </a:prstGeom>
          <a:solidFill>
            <a:srgbClr val="FFFFFF"/>
          </a:solidFill>
          <a:ln w="12700">
            <a:solidFill>
              <a:srgbClr val="D9D2C6"/>
            </a:solidFill>
            <a:prstDash val="solid"/>
          </a:ln>
        </p:spPr>
      </p:sp>
      <p:sp>
        <p:nvSpPr>
          <p:cNvPr id="24" name="Text 22"/>
          <p:cNvSpPr/>
          <p:nvPr/>
        </p:nvSpPr>
        <p:spPr>
          <a:xfrm>
            <a:off x="11686032" y="199339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Platform Direction</a:t>
            </a:r>
            <a:endParaRPr lang="en-US" sz="1200" dirty="0"/>
          </a:p>
        </p:txBody>
      </p:sp>
      <p:sp>
        <p:nvSpPr>
          <p:cNvPr id="25" name="Text 23"/>
          <p:cNvSpPr/>
          <p:nvPr/>
        </p:nvSpPr>
        <p:spPr>
          <a:xfrm>
            <a:off x="11686032" y="2249424"/>
            <a:ext cx="5669280" cy="15910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Advanced nanotechnology + sustainable engineering.</a:t>
            </a:r>
            <a:endParaRPr lang="en-US" sz="1350" dirty="0"/>
          </a:p>
        </p:txBody>
      </p:sp>
      <p:sp>
        <p:nvSpPr>
          <p:cNvPr id="26" name="Shape 24"/>
          <p:cNvSpPr/>
          <p:nvPr/>
        </p:nvSpPr>
        <p:spPr>
          <a:xfrm>
            <a:off x="11521440" y="4178808"/>
            <a:ext cx="6035040" cy="2103120"/>
          </a:xfrm>
          <a:prstGeom prst="roundRect">
            <a:avLst/>
          </a:prstGeom>
          <a:solidFill>
            <a:srgbClr val="FFFFFF"/>
          </a:solidFill>
          <a:ln w="12700">
            <a:solidFill>
              <a:srgbClr val="D9D2C6"/>
            </a:solidFill>
            <a:prstDash val="solid"/>
          </a:ln>
        </p:spPr>
      </p:sp>
      <p:sp>
        <p:nvSpPr>
          <p:cNvPr id="27" name="Text 25"/>
          <p:cNvSpPr/>
          <p:nvPr/>
        </p:nvSpPr>
        <p:spPr>
          <a:xfrm>
            <a:off x="11686032" y="432511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Deployment Range</a:t>
            </a:r>
            <a:endParaRPr lang="en-US" sz="1200" dirty="0"/>
          </a:p>
        </p:txBody>
      </p:sp>
      <p:sp>
        <p:nvSpPr>
          <p:cNvPr id="28" name="Text 26"/>
          <p:cNvSpPr/>
          <p:nvPr/>
        </p:nvSpPr>
        <p:spPr>
          <a:xfrm>
            <a:off x="11686032" y="4581144"/>
            <a:ext cx="5669280" cy="159105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From compact modular units to national energy infrastructures.</a:t>
            </a:r>
            <a:endParaRPr lang="en-US" sz="1350" dirty="0"/>
          </a:p>
        </p:txBody>
      </p:sp>
      <p:sp>
        <p:nvSpPr>
          <p:cNvPr id="29" name="Shape 27"/>
          <p:cNvSpPr/>
          <p:nvPr/>
        </p:nvSpPr>
        <p:spPr>
          <a:xfrm>
            <a:off x="11521440" y="6510528"/>
            <a:ext cx="6035040" cy="2606040"/>
          </a:xfrm>
          <a:prstGeom prst="roundRect">
            <a:avLst/>
          </a:prstGeom>
          <a:solidFill>
            <a:srgbClr val="FFFFFF"/>
          </a:solidFill>
          <a:ln w="12700">
            <a:solidFill>
              <a:srgbClr val="D9D2C6"/>
            </a:solidFill>
            <a:prstDash val="solid"/>
          </a:ln>
        </p:spPr>
      </p:sp>
      <p:sp>
        <p:nvSpPr>
          <p:cNvPr id="30" name="Text 28"/>
          <p:cNvSpPr/>
          <p:nvPr/>
        </p:nvSpPr>
        <p:spPr>
          <a:xfrm>
            <a:off x="11686032" y="6656832"/>
            <a:ext cx="5669280" cy="228600"/>
          </a:xfrm>
          <a:prstGeom prst="rect">
            <a:avLst/>
          </a:prstGeom>
          <a:noFill/>
          <a:ln/>
        </p:spPr>
        <p:txBody>
          <a:bodyPr wrap="square" rtlCol="0" anchor="ctr"/>
          <a:lstStyle/>
          <a:p>
            <a:pPr indent="0" marL="0">
              <a:buNone/>
            </a:pPr>
            <a:r>
              <a:rPr lang="en-US" sz="1200" b="1" dirty="0">
                <a:solidFill>
                  <a:srgbClr val="1E5A2A"/>
                </a:solidFill>
                <a:latin typeface="DM Sans" pitchFamily="34" charset="0"/>
                <a:ea typeface="DM Sans" pitchFamily="34" charset="-122"/>
                <a:cs typeface="DM Sans" pitchFamily="34" charset="-120"/>
              </a:rPr>
              <a:t>Outcome</a:t>
            </a:r>
            <a:endParaRPr lang="en-US" sz="1200" dirty="0"/>
          </a:p>
        </p:txBody>
      </p:sp>
      <p:sp>
        <p:nvSpPr>
          <p:cNvPr id="31" name="Text 29"/>
          <p:cNvSpPr/>
          <p:nvPr/>
        </p:nvSpPr>
        <p:spPr>
          <a:xfrm>
            <a:off x="11686032" y="6912864"/>
            <a:ext cx="5669280" cy="2093976"/>
          </a:xfrm>
          <a:prstGeom prst="rect">
            <a:avLst/>
          </a:prstGeom>
          <a:noFill/>
          <a:ln/>
        </p:spPr>
        <p:txBody>
          <a:bodyPr wrap="square" rtlCol="0" anchor="t">
            <a:normAutofit/>
          </a:bodyPr>
          <a:lstStyle/>
          <a:p>
            <a:pPr indent="0" marL="0">
              <a:buNone/>
            </a:pPr>
            <a:r>
              <a:rPr lang="en-US" sz="1350" dirty="0">
                <a:solidFill>
                  <a:srgbClr val="20252B"/>
                </a:solidFill>
                <a:latin typeface="DM Sans" pitchFamily="34" charset="0"/>
                <a:ea typeface="DM Sans" pitchFamily="34" charset="-122"/>
                <a:cs typeface="DM Sans" pitchFamily="34" charset="-120"/>
              </a:rPr>
              <a:t>Positioned to reshape the clean-energy landscape and accelerate the transition toward a zero-carbon world.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Supercloud Energy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Plasmonic Hydrogen Power Generator - Canva Edit Deck</dc:title>
  <dc:subject>Plasmonic Hydrogen Power Generator</dc:subject>
  <dc:creator>Hans / Codex</dc:creator>
  <cp:lastModifiedBy>Hans / Codex</cp:lastModifiedBy>
  <cp:revision>1</cp:revision>
  <dcterms:created xsi:type="dcterms:W3CDTF">2026-02-26T16:48:59Z</dcterms:created>
  <dcterms:modified xsi:type="dcterms:W3CDTF">2026-02-26T16:48:59Z</dcterms:modified>
</cp:coreProperties>
</file>