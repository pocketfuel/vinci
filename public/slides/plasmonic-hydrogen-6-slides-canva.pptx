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384048" y="182880"/>
            <a:ext cx="4389120" cy="438912"/>
          </a:xfrm>
          <a:prstGeom prst="roundRect">
            <a:avLst/>
          </a:prstGeom>
          <a:solidFill>
            <a:srgbClr val="F8F6F1"/>
          </a:solidFill>
          <a:ln w="12700">
            <a:solidFill>
              <a:srgbClr val="CFC8BA"/>
            </a:solidFill>
            <a:prstDash val="solid"/>
          </a:ln>
        </p:spPr>
      </p:sp>
      <p:sp>
        <p:nvSpPr>
          <p:cNvPr id="3" name="Text 1"/>
          <p:cNvSpPr/>
          <p:nvPr/>
        </p:nvSpPr>
        <p:spPr>
          <a:xfrm>
            <a:off x="512064" y="283464"/>
            <a:ext cx="4114800" cy="237744"/>
          </a:xfrm>
          <a:prstGeom prst="rect">
            <a:avLst/>
          </a:prstGeom>
          <a:noFill/>
          <a:ln/>
        </p:spPr>
        <p:txBody>
          <a:bodyPr wrap="square" rtlCol="0" anchor="ctr"/>
          <a:lstStyle/>
          <a:p>
            <a:pPr indent="0" marL="0">
              <a:buNone/>
            </a:pPr>
            <a:r>
              <a:rPr lang="en-US" sz="1100" b="1" dirty="0">
                <a:solidFill>
                  <a:srgbClr val="1E5A2A"/>
                </a:solidFill>
                <a:latin typeface="DM Sans" pitchFamily="34" charset="0"/>
                <a:ea typeface="DM Sans" pitchFamily="34" charset="-122"/>
                <a:cs typeface="DM Sans" pitchFamily="34" charset="-120"/>
              </a:rPr>
              <a:t>Plasmonic Hydrogen Power Generator</a:t>
            </a:r>
            <a:endParaRPr lang="en-US" sz="1100" dirty="0"/>
          </a:p>
        </p:txBody>
      </p:sp>
      <p:sp>
        <p:nvSpPr>
          <p:cNvPr id="4" name="Text 2"/>
          <p:cNvSpPr/>
          <p:nvPr/>
        </p:nvSpPr>
        <p:spPr>
          <a:xfrm>
            <a:off x="10378440" y="283464"/>
            <a:ext cx="1371600" cy="237744"/>
          </a:xfrm>
          <a:prstGeom prst="rect">
            <a:avLst/>
          </a:prstGeom>
          <a:noFill/>
          <a:ln/>
        </p:spPr>
        <p:txBody>
          <a:bodyPr wrap="square" rtlCol="0" anchor="ctr"/>
          <a:lstStyle/>
          <a:p>
            <a:pPr algn="r" indent="0" marL="0">
              <a:buNone/>
            </a:pPr>
            <a:r>
              <a:rPr lang="en-US" sz="1050" b="1" dirty="0">
                <a:solidFill>
                  <a:srgbClr val="3A4048"/>
                </a:solidFill>
                <a:latin typeface="DM Sans" pitchFamily="34" charset="0"/>
                <a:ea typeface="DM Sans" pitchFamily="34" charset="-122"/>
                <a:cs typeface="DM Sans" pitchFamily="34" charset="-120"/>
              </a:rPr>
              <a:t>Slide 01 / 06</a:t>
            </a:r>
            <a:endParaRPr lang="en-US" sz="1050" dirty="0"/>
          </a:p>
        </p:txBody>
      </p:sp>
      <p:sp>
        <p:nvSpPr>
          <p:cNvPr id="5" name="Shape 3"/>
          <p:cNvSpPr/>
          <p:nvPr/>
        </p:nvSpPr>
        <p:spPr>
          <a:xfrm>
            <a:off x="411480" y="777240"/>
            <a:ext cx="1645920" cy="384048"/>
          </a:xfrm>
          <a:prstGeom prst="roundRect">
            <a:avLst/>
          </a:prstGeom>
          <a:solidFill>
            <a:srgbClr val="C7D8BE"/>
          </a:solidFill>
          <a:ln w="12700">
            <a:solidFill>
              <a:srgbClr val="CFC8BA"/>
            </a:solidFill>
            <a:prstDash val="solid"/>
          </a:ln>
        </p:spPr>
      </p:sp>
      <p:sp>
        <p:nvSpPr>
          <p:cNvPr id="6" name="Text 4"/>
          <p:cNvSpPr/>
          <p:nvPr/>
        </p:nvSpPr>
        <p:spPr>
          <a:xfrm>
            <a:off x="484632" y="868680"/>
            <a:ext cx="1499616" cy="201168"/>
          </a:xfrm>
          <a:prstGeom prst="rect">
            <a:avLst/>
          </a:prstGeom>
          <a:noFill/>
          <a:ln/>
        </p:spPr>
        <p:txBody>
          <a:bodyPr wrap="square" rtlCol="0" anchor="ctr"/>
          <a:lstStyle/>
          <a:p>
            <a:pPr algn="ctr" indent="0" marL="0">
              <a:buNone/>
            </a:pPr>
            <a:r>
              <a:rPr lang="en-US" sz="950" b="1" dirty="0">
                <a:solidFill>
                  <a:srgbClr val="1E5A2A"/>
                </a:solidFill>
                <a:latin typeface="DM Sans" pitchFamily="34" charset="0"/>
                <a:ea typeface="DM Sans" pitchFamily="34" charset="-122"/>
                <a:cs typeface="DM Sans" pitchFamily="34" charset="-120"/>
              </a:rPr>
              <a:t>01 Overview</a:t>
            </a:r>
            <a:endParaRPr lang="en-US" sz="950" dirty="0"/>
          </a:p>
        </p:txBody>
      </p:sp>
      <p:sp>
        <p:nvSpPr>
          <p:cNvPr id="7" name="Shape 5"/>
          <p:cNvSpPr/>
          <p:nvPr/>
        </p:nvSpPr>
        <p:spPr>
          <a:xfrm>
            <a:off x="2167128" y="777240"/>
            <a:ext cx="1874520" cy="384048"/>
          </a:xfrm>
          <a:prstGeom prst="roundRect">
            <a:avLst/>
          </a:prstGeom>
          <a:solidFill>
            <a:srgbClr val="E7E2D8"/>
          </a:solidFill>
          <a:ln w="12700">
            <a:solidFill>
              <a:srgbClr val="CFC8BA"/>
            </a:solidFill>
            <a:prstDash val="solid"/>
          </a:ln>
        </p:spPr>
      </p:sp>
      <p:sp>
        <p:nvSpPr>
          <p:cNvPr id="8" name="Text 6"/>
          <p:cNvSpPr/>
          <p:nvPr/>
        </p:nvSpPr>
        <p:spPr>
          <a:xfrm>
            <a:off x="2240280"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02 How It Works</a:t>
            </a:r>
            <a:endParaRPr lang="en-US" sz="950" dirty="0"/>
          </a:p>
        </p:txBody>
      </p:sp>
      <p:sp>
        <p:nvSpPr>
          <p:cNvPr id="9" name="Shape 7"/>
          <p:cNvSpPr/>
          <p:nvPr/>
        </p:nvSpPr>
        <p:spPr>
          <a:xfrm>
            <a:off x="4151376" y="777240"/>
            <a:ext cx="1783080" cy="384048"/>
          </a:xfrm>
          <a:prstGeom prst="roundRect">
            <a:avLst/>
          </a:prstGeom>
          <a:solidFill>
            <a:srgbClr val="E7E2D8"/>
          </a:solidFill>
          <a:ln w="12700">
            <a:solidFill>
              <a:srgbClr val="CFC8BA"/>
            </a:solidFill>
            <a:prstDash val="solid"/>
          </a:ln>
        </p:spPr>
      </p:sp>
      <p:sp>
        <p:nvSpPr>
          <p:cNvPr id="10" name="Text 8"/>
          <p:cNvSpPr/>
          <p:nvPr/>
        </p:nvSpPr>
        <p:spPr>
          <a:xfrm>
            <a:off x="4224528"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03 Advantages I</a:t>
            </a:r>
            <a:endParaRPr lang="en-US" sz="950" dirty="0"/>
          </a:p>
        </p:txBody>
      </p:sp>
      <p:sp>
        <p:nvSpPr>
          <p:cNvPr id="11" name="Shape 9"/>
          <p:cNvSpPr/>
          <p:nvPr/>
        </p:nvSpPr>
        <p:spPr>
          <a:xfrm>
            <a:off x="6044184" y="777240"/>
            <a:ext cx="1874520" cy="384048"/>
          </a:xfrm>
          <a:prstGeom prst="roundRect">
            <a:avLst/>
          </a:prstGeom>
          <a:solidFill>
            <a:srgbClr val="E7E2D8"/>
          </a:solidFill>
          <a:ln w="12700">
            <a:solidFill>
              <a:srgbClr val="CFC8BA"/>
            </a:solidFill>
            <a:prstDash val="solid"/>
          </a:ln>
        </p:spPr>
      </p:sp>
      <p:sp>
        <p:nvSpPr>
          <p:cNvPr id="12" name="Text 10"/>
          <p:cNvSpPr/>
          <p:nvPr/>
        </p:nvSpPr>
        <p:spPr>
          <a:xfrm>
            <a:off x="6117336"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04 Advantages II</a:t>
            </a:r>
            <a:endParaRPr lang="en-US" sz="950" dirty="0"/>
          </a:p>
        </p:txBody>
      </p:sp>
      <p:sp>
        <p:nvSpPr>
          <p:cNvPr id="13" name="Shape 11"/>
          <p:cNvSpPr/>
          <p:nvPr/>
        </p:nvSpPr>
        <p:spPr>
          <a:xfrm>
            <a:off x="8028432" y="777240"/>
            <a:ext cx="1783080" cy="384048"/>
          </a:xfrm>
          <a:prstGeom prst="roundRect">
            <a:avLst/>
          </a:prstGeom>
          <a:solidFill>
            <a:srgbClr val="E7E2D8"/>
          </a:solidFill>
          <a:ln w="12700">
            <a:solidFill>
              <a:srgbClr val="CFC8BA"/>
            </a:solidFill>
            <a:prstDash val="solid"/>
          </a:ln>
        </p:spPr>
      </p:sp>
      <p:sp>
        <p:nvSpPr>
          <p:cNvPr id="14" name="Text 12"/>
          <p:cNvSpPr/>
          <p:nvPr/>
        </p:nvSpPr>
        <p:spPr>
          <a:xfrm>
            <a:off x="8101584"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05 Why It Matters</a:t>
            </a:r>
            <a:endParaRPr lang="en-US" sz="950" dirty="0"/>
          </a:p>
        </p:txBody>
      </p:sp>
      <p:sp>
        <p:nvSpPr>
          <p:cNvPr id="15" name="Shape 13"/>
          <p:cNvSpPr/>
          <p:nvPr/>
        </p:nvSpPr>
        <p:spPr>
          <a:xfrm>
            <a:off x="9921240" y="777240"/>
            <a:ext cx="1737360" cy="384048"/>
          </a:xfrm>
          <a:prstGeom prst="roundRect">
            <a:avLst/>
          </a:prstGeom>
          <a:solidFill>
            <a:srgbClr val="E7E2D8"/>
          </a:solidFill>
          <a:ln w="12700">
            <a:solidFill>
              <a:srgbClr val="CFC8BA"/>
            </a:solidFill>
            <a:prstDash val="solid"/>
          </a:ln>
        </p:spPr>
      </p:sp>
      <p:sp>
        <p:nvSpPr>
          <p:cNvPr id="16" name="Text 14"/>
          <p:cNvSpPr/>
          <p:nvPr/>
        </p:nvSpPr>
        <p:spPr>
          <a:xfrm>
            <a:off x="9994392" y="868680"/>
            <a:ext cx="159105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06 Future Vision</a:t>
            </a:r>
            <a:endParaRPr lang="en-US" sz="950" dirty="0"/>
          </a:p>
        </p:txBody>
      </p:sp>
      <p:sp>
        <p:nvSpPr>
          <p:cNvPr id="17" name="Shape 15"/>
          <p:cNvSpPr/>
          <p:nvPr/>
        </p:nvSpPr>
        <p:spPr>
          <a:xfrm>
            <a:off x="411480" y="1307592"/>
            <a:ext cx="6812280" cy="5212080"/>
          </a:xfrm>
          <a:prstGeom prst="roundRect">
            <a:avLst/>
          </a:prstGeom>
          <a:solidFill>
            <a:srgbClr val="FFFFFF"/>
          </a:solidFill>
          <a:ln w="12700">
            <a:solidFill>
              <a:srgbClr val="CFC8BA"/>
            </a:solidFill>
            <a:prstDash val="solid"/>
          </a:ln>
        </p:spPr>
      </p:sp>
      <p:sp>
        <p:nvSpPr>
          <p:cNvPr id="18" name="Shape 16"/>
          <p:cNvSpPr/>
          <p:nvPr/>
        </p:nvSpPr>
        <p:spPr>
          <a:xfrm>
            <a:off x="7360920" y="1307592"/>
            <a:ext cx="4416552" cy="5212080"/>
          </a:xfrm>
          <a:prstGeom prst="roundRect">
            <a:avLst/>
          </a:prstGeom>
          <a:solidFill>
            <a:srgbClr val="FFFFFF"/>
          </a:solidFill>
          <a:ln w="12700">
            <a:solidFill>
              <a:srgbClr val="CFC8BA"/>
            </a:solidFill>
            <a:prstDash val="solid"/>
          </a:ln>
        </p:spPr>
      </p:sp>
      <p:sp>
        <p:nvSpPr>
          <p:cNvPr id="19" name="Text 17"/>
          <p:cNvSpPr/>
          <p:nvPr/>
        </p:nvSpPr>
        <p:spPr>
          <a:xfrm>
            <a:off x="713232" y="1627632"/>
            <a:ext cx="6217920" cy="1280160"/>
          </a:xfrm>
          <a:prstGeom prst="rect">
            <a:avLst/>
          </a:prstGeom>
          <a:noFill/>
          <a:ln/>
        </p:spPr>
        <p:txBody>
          <a:bodyPr wrap="square" rtlCol="0" anchor="ctr"/>
          <a:lstStyle/>
          <a:p>
            <a:pPr indent="0" marL="0">
              <a:buNone/>
            </a:pPr>
            <a:r>
              <a:rPr lang="en-US" sz="4600" dirty="0">
                <a:solidFill>
                  <a:srgbClr val="1E5A2A"/>
                </a:solidFill>
                <a:latin typeface="The Seasons" pitchFamily="34" charset="0"/>
                <a:ea typeface="The Seasons" pitchFamily="34" charset="-122"/>
                <a:cs typeface="The Seasons" pitchFamily="34" charset="-120"/>
              </a:rPr>
              <a:t>Plasmonic Hydrogen</a:t>
            </a:r>
            <a:endParaRPr lang="en-US" sz="4600" dirty="0"/>
          </a:p>
          <a:p>
            <a:pPr indent="0" marL="0">
              <a:buNone/>
            </a:pPr>
            <a:r>
              <a:rPr lang="en-US" sz="4600" dirty="0">
                <a:solidFill>
                  <a:srgbClr val="1E5A2A"/>
                </a:solidFill>
                <a:latin typeface="The Seasons" pitchFamily="34" charset="0"/>
                <a:ea typeface="The Seasons" pitchFamily="34" charset="-122"/>
                <a:cs typeface="The Seasons" pitchFamily="34" charset="-120"/>
              </a:rPr>
              <a:t>Power Generator</a:t>
            </a:r>
            <a:endParaRPr lang="en-US" sz="4600" dirty="0"/>
          </a:p>
        </p:txBody>
      </p:sp>
      <p:sp>
        <p:nvSpPr>
          <p:cNvPr id="20" name="Text 18"/>
          <p:cNvSpPr/>
          <p:nvPr/>
        </p:nvSpPr>
        <p:spPr>
          <a:xfrm>
            <a:off x="749808" y="2788920"/>
            <a:ext cx="6035040" cy="384048"/>
          </a:xfrm>
          <a:prstGeom prst="rect">
            <a:avLst/>
          </a:prstGeom>
          <a:noFill/>
          <a:ln/>
        </p:spPr>
        <p:txBody>
          <a:bodyPr wrap="square" rtlCol="0" anchor="ctr"/>
          <a:lstStyle/>
          <a:p>
            <a:pPr indent="0" marL="0">
              <a:buNone/>
            </a:pPr>
            <a:r>
              <a:rPr lang="en-US" sz="2100" b="1" dirty="0">
                <a:solidFill>
                  <a:srgbClr val="20252B"/>
                </a:solidFill>
                <a:latin typeface="DM Sans" pitchFamily="34" charset="0"/>
                <a:ea typeface="DM Sans" pitchFamily="34" charset="-122"/>
                <a:cs typeface="DM Sans" pitchFamily="34" charset="-120"/>
              </a:rPr>
              <a:t>The Next Leap in Clean Energy</a:t>
            </a:r>
            <a:endParaRPr lang="en-US" sz="2100" dirty="0"/>
          </a:p>
        </p:txBody>
      </p:sp>
      <p:sp>
        <p:nvSpPr>
          <p:cNvPr id="21" name="Text 19"/>
          <p:cNvSpPr/>
          <p:nvPr/>
        </p:nvSpPr>
        <p:spPr>
          <a:xfrm>
            <a:off x="749808" y="3273552"/>
            <a:ext cx="6217920" cy="2651760"/>
          </a:xfrm>
          <a:prstGeom prst="rect">
            <a:avLst/>
          </a:prstGeom>
          <a:noFill/>
          <a:ln/>
        </p:spPr>
        <p:txBody>
          <a:bodyPr wrap="square" rtlCol="0" anchor="t"/>
          <a:lstStyle/>
          <a:p>
            <a:pPr indent="0" marL="0">
              <a:buNone/>
            </a:pPr>
            <a:r>
              <a:rPr lang="en-US" sz="1700" dirty="0">
                <a:solidFill>
                  <a:srgbClr val="20252B"/>
                </a:solidFill>
                <a:latin typeface="DM Sans" pitchFamily="34" charset="0"/>
                <a:ea typeface="DM Sans" pitchFamily="34" charset="-122"/>
                <a:cs typeface="DM Sans" pitchFamily="34" charset="-120"/>
              </a:rPr>
              <a:t>The OEM and Energy-Spout have refined the terminology from “Hydrogen Magnetic” to Plasmonic Hydrogen Power Generator. This reflects the plasmonic nanoscience that captures and amplifies light at the nanoscale to generate hydrogen and continuous clean power.</a:t>
            </a:r>
            <a:endParaRPr lang="en-US" sz="1700" dirty="0"/>
          </a:p>
        </p:txBody>
      </p:sp>
      <p:sp>
        <p:nvSpPr>
          <p:cNvPr id="22" name="Text 20"/>
          <p:cNvSpPr/>
          <p:nvPr/>
        </p:nvSpPr>
        <p:spPr>
          <a:xfrm>
            <a:off x="7635240" y="1609344"/>
            <a:ext cx="3840480" cy="310896"/>
          </a:xfrm>
          <a:prstGeom prst="rect">
            <a:avLst/>
          </a:prstGeom>
          <a:noFill/>
          <a:ln/>
        </p:spPr>
        <p:txBody>
          <a:bodyPr wrap="square" rtlCol="0" anchor="ctr"/>
          <a:lstStyle/>
          <a:p>
            <a:pPr indent="0" marL="0">
              <a:buNone/>
            </a:pPr>
            <a:r>
              <a:rPr lang="en-US" sz="3000" dirty="0">
                <a:solidFill>
                  <a:srgbClr val="1E5A2A"/>
                </a:solidFill>
                <a:latin typeface="The Seasons" pitchFamily="34" charset="0"/>
                <a:ea typeface="The Seasons" pitchFamily="34" charset="-122"/>
                <a:cs typeface="The Seasons" pitchFamily="34" charset="-120"/>
              </a:rPr>
              <a:t>Overview</a:t>
            </a:r>
            <a:endParaRPr lang="en-US" sz="3000" dirty="0"/>
          </a:p>
        </p:txBody>
      </p:sp>
      <p:sp>
        <p:nvSpPr>
          <p:cNvPr id="23" name="Text 21"/>
          <p:cNvSpPr/>
          <p:nvPr/>
        </p:nvSpPr>
        <p:spPr>
          <a:xfrm>
            <a:off x="7635240" y="1993392"/>
            <a:ext cx="3931920" cy="4343400"/>
          </a:xfrm>
          <a:prstGeom prst="rect">
            <a:avLst/>
          </a:prstGeom>
          <a:noFill/>
          <a:ln/>
        </p:spPr>
        <p:txBody>
          <a:bodyPr wrap="square" rtlCol="0" anchor="t"/>
          <a:lstStyle/>
          <a:p>
            <a:pPr indent="0" marL="0">
              <a:buNone/>
            </a:pPr>
            <a:r>
              <a:rPr lang="en-US" sz="1450" dirty="0">
                <a:solidFill>
                  <a:srgbClr val="20252B"/>
                </a:solidFill>
                <a:latin typeface="DM Sans" pitchFamily="34" charset="0"/>
                <a:ea typeface="DM Sans" pitchFamily="34" charset="-122"/>
                <a:cs typeface="DM Sans" pitchFamily="34" charset="-120"/>
              </a:rPr>
              <a:t>The system combines plasmonics, hydrogen production, and power generation for efficiency, durability, and scalability in renewable energy conversion.</a:t>
            </a:r>
            <a:endParaRPr lang="en-US" sz="1450" dirty="0"/>
          </a:p>
          <a:p>
            <a:pPr indent="0" marL="0">
              <a:buNone/>
            </a:pPr>
            <a:endParaRPr lang="en-US" sz="1450" dirty="0"/>
          </a:p>
          <a:p>
            <a:pPr indent="0" marL="0">
              <a:buNone/>
            </a:pPr>
            <a:r>
              <a:rPr lang="en-US" sz="1450" dirty="0">
                <a:solidFill>
                  <a:srgbClr val="20252B"/>
                </a:solidFill>
                <a:latin typeface="DM Sans" pitchFamily="34" charset="0"/>
                <a:ea typeface="DM Sans" pitchFamily="34" charset="-122"/>
                <a:cs typeface="DM Sans" pitchFamily="34" charset="-120"/>
              </a:rPr>
              <a:t>At its core, plasmonic nanostructures concentrate light energy and enhance catalytic reactions to split water into hydrogen and oxygen using sunlight or low-grade thermal energy.</a:t>
            </a:r>
            <a:endParaRPr lang="en-US" sz="1450" dirty="0"/>
          </a:p>
          <a:p>
            <a:pPr indent="0" marL="0">
              <a:buNone/>
            </a:pPr>
            <a:endParaRPr lang="en-US" sz="1450" dirty="0"/>
          </a:p>
          <a:p>
            <a:pPr indent="0" marL="0">
              <a:buNone/>
            </a:pPr>
            <a:r>
              <a:rPr lang="en-US" sz="1450" dirty="0">
                <a:solidFill>
                  <a:srgbClr val="20252B"/>
                </a:solidFill>
                <a:latin typeface="DM Sans" pitchFamily="34" charset="0"/>
                <a:ea typeface="DM Sans" pitchFamily="34" charset="-122"/>
                <a:cs typeface="DM Sans" pitchFamily="34" charset="-120"/>
              </a:rPr>
              <a:t>Paired with a high-efficiency fuel cell or direct hydrogen combustion module, the result is continuous clean electricity with no dependence on fossil fuels.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384048" y="182880"/>
            <a:ext cx="4389120" cy="438912"/>
          </a:xfrm>
          <a:prstGeom prst="roundRect">
            <a:avLst/>
          </a:prstGeom>
          <a:solidFill>
            <a:srgbClr val="F8F6F1"/>
          </a:solidFill>
          <a:ln w="12700">
            <a:solidFill>
              <a:srgbClr val="CFC8BA"/>
            </a:solidFill>
            <a:prstDash val="solid"/>
          </a:ln>
        </p:spPr>
      </p:sp>
      <p:sp>
        <p:nvSpPr>
          <p:cNvPr id="3" name="Text 1"/>
          <p:cNvSpPr/>
          <p:nvPr/>
        </p:nvSpPr>
        <p:spPr>
          <a:xfrm>
            <a:off x="512064" y="283464"/>
            <a:ext cx="4114800" cy="237744"/>
          </a:xfrm>
          <a:prstGeom prst="rect">
            <a:avLst/>
          </a:prstGeom>
          <a:noFill/>
          <a:ln/>
        </p:spPr>
        <p:txBody>
          <a:bodyPr wrap="square" rtlCol="0" anchor="ctr"/>
          <a:lstStyle/>
          <a:p>
            <a:pPr indent="0" marL="0">
              <a:buNone/>
            </a:pPr>
            <a:r>
              <a:rPr lang="en-US" sz="1100" b="1" dirty="0">
                <a:solidFill>
                  <a:srgbClr val="1E5A2A"/>
                </a:solidFill>
                <a:latin typeface="DM Sans" pitchFamily="34" charset="0"/>
                <a:ea typeface="DM Sans" pitchFamily="34" charset="-122"/>
                <a:cs typeface="DM Sans" pitchFamily="34" charset="-120"/>
              </a:rPr>
              <a:t>Plasmonic Hydrogen Power Generator</a:t>
            </a:r>
            <a:endParaRPr lang="en-US" sz="1100" dirty="0"/>
          </a:p>
        </p:txBody>
      </p:sp>
      <p:sp>
        <p:nvSpPr>
          <p:cNvPr id="4" name="Text 2"/>
          <p:cNvSpPr/>
          <p:nvPr/>
        </p:nvSpPr>
        <p:spPr>
          <a:xfrm>
            <a:off x="10378440" y="283464"/>
            <a:ext cx="1371600" cy="237744"/>
          </a:xfrm>
          <a:prstGeom prst="rect">
            <a:avLst/>
          </a:prstGeom>
          <a:noFill/>
          <a:ln/>
        </p:spPr>
        <p:txBody>
          <a:bodyPr wrap="square" rtlCol="0" anchor="ctr"/>
          <a:lstStyle/>
          <a:p>
            <a:pPr algn="r" indent="0" marL="0">
              <a:buNone/>
            </a:pPr>
            <a:r>
              <a:rPr lang="en-US" sz="1050" b="1" dirty="0">
                <a:solidFill>
                  <a:srgbClr val="3A4048"/>
                </a:solidFill>
                <a:latin typeface="DM Sans" pitchFamily="34" charset="0"/>
                <a:ea typeface="DM Sans" pitchFamily="34" charset="-122"/>
                <a:cs typeface="DM Sans" pitchFamily="34" charset="-120"/>
              </a:rPr>
              <a:t>Slide 02 / 06</a:t>
            </a:r>
            <a:endParaRPr lang="en-US" sz="1050" dirty="0"/>
          </a:p>
        </p:txBody>
      </p:sp>
      <p:sp>
        <p:nvSpPr>
          <p:cNvPr id="5" name="Shape 3"/>
          <p:cNvSpPr/>
          <p:nvPr/>
        </p:nvSpPr>
        <p:spPr>
          <a:xfrm>
            <a:off x="411480" y="777240"/>
            <a:ext cx="1645920" cy="384048"/>
          </a:xfrm>
          <a:prstGeom prst="roundRect">
            <a:avLst/>
          </a:prstGeom>
          <a:solidFill>
            <a:srgbClr val="E7E2D8"/>
          </a:solidFill>
          <a:ln w="12700">
            <a:solidFill>
              <a:srgbClr val="CFC8BA"/>
            </a:solidFill>
            <a:prstDash val="solid"/>
          </a:ln>
        </p:spPr>
      </p:sp>
      <p:sp>
        <p:nvSpPr>
          <p:cNvPr id="6" name="Text 4"/>
          <p:cNvSpPr/>
          <p:nvPr/>
        </p:nvSpPr>
        <p:spPr>
          <a:xfrm>
            <a:off x="484632" y="868680"/>
            <a:ext cx="14996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01 Overview</a:t>
            </a:r>
            <a:endParaRPr lang="en-US" sz="950" dirty="0"/>
          </a:p>
        </p:txBody>
      </p:sp>
      <p:sp>
        <p:nvSpPr>
          <p:cNvPr id="7" name="Shape 5"/>
          <p:cNvSpPr/>
          <p:nvPr/>
        </p:nvSpPr>
        <p:spPr>
          <a:xfrm>
            <a:off x="2167128" y="777240"/>
            <a:ext cx="1874520" cy="384048"/>
          </a:xfrm>
          <a:prstGeom prst="roundRect">
            <a:avLst/>
          </a:prstGeom>
          <a:solidFill>
            <a:srgbClr val="C7D8BE"/>
          </a:solidFill>
          <a:ln w="12700">
            <a:solidFill>
              <a:srgbClr val="CFC8BA"/>
            </a:solidFill>
            <a:prstDash val="solid"/>
          </a:ln>
        </p:spPr>
      </p:sp>
      <p:sp>
        <p:nvSpPr>
          <p:cNvPr id="8" name="Text 6"/>
          <p:cNvSpPr/>
          <p:nvPr/>
        </p:nvSpPr>
        <p:spPr>
          <a:xfrm>
            <a:off x="2240280" y="868680"/>
            <a:ext cx="1728216" cy="201168"/>
          </a:xfrm>
          <a:prstGeom prst="rect">
            <a:avLst/>
          </a:prstGeom>
          <a:noFill/>
          <a:ln/>
        </p:spPr>
        <p:txBody>
          <a:bodyPr wrap="square" rtlCol="0" anchor="ctr"/>
          <a:lstStyle/>
          <a:p>
            <a:pPr algn="ctr" indent="0" marL="0">
              <a:buNone/>
            </a:pPr>
            <a:r>
              <a:rPr lang="en-US" sz="950" b="1" dirty="0">
                <a:solidFill>
                  <a:srgbClr val="1E5A2A"/>
                </a:solidFill>
                <a:latin typeface="DM Sans" pitchFamily="34" charset="0"/>
                <a:ea typeface="DM Sans" pitchFamily="34" charset="-122"/>
                <a:cs typeface="DM Sans" pitchFamily="34" charset="-120"/>
              </a:rPr>
              <a:t>02 How It Works</a:t>
            </a:r>
            <a:endParaRPr lang="en-US" sz="950" dirty="0"/>
          </a:p>
        </p:txBody>
      </p:sp>
      <p:sp>
        <p:nvSpPr>
          <p:cNvPr id="9" name="Shape 7"/>
          <p:cNvSpPr/>
          <p:nvPr/>
        </p:nvSpPr>
        <p:spPr>
          <a:xfrm>
            <a:off x="4151376" y="777240"/>
            <a:ext cx="1783080" cy="384048"/>
          </a:xfrm>
          <a:prstGeom prst="roundRect">
            <a:avLst/>
          </a:prstGeom>
          <a:solidFill>
            <a:srgbClr val="E7E2D8"/>
          </a:solidFill>
          <a:ln w="12700">
            <a:solidFill>
              <a:srgbClr val="CFC8BA"/>
            </a:solidFill>
            <a:prstDash val="solid"/>
          </a:ln>
        </p:spPr>
      </p:sp>
      <p:sp>
        <p:nvSpPr>
          <p:cNvPr id="10" name="Text 8"/>
          <p:cNvSpPr/>
          <p:nvPr/>
        </p:nvSpPr>
        <p:spPr>
          <a:xfrm>
            <a:off x="4224528"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03 Advantages I</a:t>
            </a:r>
            <a:endParaRPr lang="en-US" sz="950" dirty="0"/>
          </a:p>
        </p:txBody>
      </p:sp>
      <p:sp>
        <p:nvSpPr>
          <p:cNvPr id="11" name="Shape 9"/>
          <p:cNvSpPr/>
          <p:nvPr/>
        </p:nvSpPr>
        <p:spPr>
          <a:xfrm>
            <a:off x="6044184" y="777240"/>
            <a:ext cx="1874520" cy="384048"/>
          </a:xfrm>
          <a:prstGeom prst="roundRect">
            <a:avLst/>
          </a:prstGeom>
          <a:solidFill>
            <a:srgbClr val="E7E2D8"/>
          </a:solidFill>
          <a:ln w="12700">
            <a:solidFill>
              <a:srgbClr val="CFC8BA"/>
            </a:solidFill>
            <a:prstDash val="solid"/>
          </a:ln>
        </p:spPr>
      </p:sp>
      <p:sp>
        <p:nvSpPr>
          <p:cNvPr id="12" name="Text 10"/>
          <p:cNvSpPr/>
          <p:nvPr/>
        </p:nvSpPr>
        <p:spPr>
          <a:xfrm>
            <a:off x="6117336"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04 Advantages II</a:t>
            </a:r>
            <a:endParaRPr lang="en-US" sz="950" dirty="0"/>
          </a:p>
        </p:txBody>
      </p:sp>
      <p:sp>
        <p:nvSpPr>
          <p:cNvPr id="13" name="Shape 11"/>
          <p:cNvSpPr/>
          <p:nvPr/>
        </p:nvSpPr>
        <p:spPr>
          <a:xfrm>
            <a:off x="8028432" y="777240"/>
            <a:ext cx="1783080" cy="384048"/>
          </a:xfrm>
          <a:prstGeom prst="roundRect">
            <a:avLst/>
          </a:prstGeom>
          <a:solidFill>
            <a:srgbClr val="E7E2D8"/>
          </a:solidFill>
          <a:ln w="12700">
            <a:solidFill>
              <a:srgbClr val="CFC8BA"/>
            </a:solidFill>
            <a:prstDash val="solid"/>
          </a:ln>
        </p:spPr>
      </p:sp>
      <p:sp>
        <p:nvSpPr>
          <p:cNvPr id="14" name="Text 12"/>
          <p:cNvSpPr/>
          <p:nvPr/>
        </p:nvSpPr>
        <p:spPr>
          <a:xfrm>
            <a:off x="8101584"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05 Why It Matters</a:t>
            </a:r>
            <a:endParaRPr lang="en-US" sz="950" dirty="0"/>
          </a:p>
        </p:txBody>
      </p:sp>
      <p:sp>
        <p:nvSpPr>
          <p:cNvPr id="15" name="Shape 13"/>
          <p:cNvSpPr/>
          <p:nvPr/>
        </p:nvSpPr>
        <p:spPr>
          <a:xfrm>
            <a:off x="9921240" y="777240"/>
            <a:ext cx="1737360" cy="384048"/>
          </a:xfrm>
          <a:prstGeom prst="roundRect">
            <a:avLst/>
          </a:prstGeom>
          <a:solidFill>
            <a:srgbClr val="E7E2D8"/>
          </a:solidFill>
          <a:ln w="12700">
            <a:solidFill>
              <a:srgbClr val="CFC8BA"/>
            </a:solidFill>
            <a:prstDash val="solid"/>
          </a:ln>
        </p:spPr>
      </p:sp>
      <p:sp>
        <p:nvSpPr>
          <p:cNvPr id="16" name="Text 14"/>
          <p:cNvSpPr/>
          <p:nvPr/>
        </p:nvSpPr>
        <p:spPr>
          <a:xfrm>
            <a:off x="9994392" y="868680"/>
            <a:ext cx="159105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06 Future Vision</a:t>
            </a:r>
            <a:endParaRPr lang="en-US" sz="950" dirty="0"/>
          </a:p>
        </p:txBody>
      </p:sp>
      <p:sp>
        <p:nvSpPr>
          <p:cNvPr id="17" name="Shape 15"/>
          <p:cNvSpPr/>
          <p:nvPr/>
        </p:nvSpPr>
        <p:spPr>
          <a:xfrm>
            <a:off x="411480" y="1307592"/>
            <a:ext cx="6812280" cy="5212080"/>
          </a:xfrm>
          <a:prstGeom prst="roundRect">
            <a:avLst/>
          </a:prstGeom>
          <a:solidFill>
            <a:srgbClr val="FFFFFF"/>
          </a:solidFill>
          <a:ln w="12700">
            <a:solidFill>
              <a:srgbClr val="CFC8BA"/>
            </a:solidFill>
            <a:prstDash val="solid"/>
          </a:ln>
        </p:spPr>
      </p:sp>
      <p:sp>
        <p:nvSpPr>
          <p:cNvPr id="18" name="Shape 16"/>
          <p:cNvSpPr/>
          <p:nvPr/>
        </p:nvSpPr>
        <p:spPr>
          <a:xfrm>
            <a:off x="7360920" y="1307592"/>
            <a:ext cx="4416552" cy="5212080"/>
          </a:xfrm>
          <a:prstGeom prst="roundRect">
            <a:avLst/>
          </a:prstGeom>
          <a:solidFill>
            <a:srgbClr val="FFFFFF"/>
          </a:solidFill>
          <a:ln w="12700">
            <a:solidFill>
              <a:srgbClr val="CFC8BA"/>
            </a:solidFill>
            <a:prstDash val="solid"/>
          </a:ln>
        </p:spPr>
      </p:sp>
      <p:sp>
        <p:nvSpPr>
          <p:cNvPr id="19" name="Text 17"/>
          <p:cNvSpPr/>
          <p:nvPr/>
        </p:nvSpPr>
        <p:spPr>
          <a:xfrm>
            <a:off x="731520" y="1627632"/>
            <a:ext cx="5669280" cy="566928"/>
          </a:xfrm>
          <a:prstGeom prst="rect">
            <a:avLst/>
          </a:prstGeom>
          <a:noFill/>
          <a:ln/>
        </p:spPr>
        <p:txBody>
          <a:bodyPr wrap="square" rtlCol="0" anchor="ctr"/>
          <a:lstStyle/>
          <a:p>
            <a:pPr indent="0" marL="0">
              <a:buNone/>
            </a:pPr>
            <a:r>
              <a:rPr lang="en-US" sz="4200" dirty="0">
                <a:solidFill>
                  <a:srgbClr val="1E5A2A"/>
                </a:solidFill>
                <a:latin typeface="The Seasons" pitchFamily="34" charset="0"/>
                <a:ea typeface="The Seasons" pitchFamily="34" charset="-122"/>
                <a:cs typeface="The Seasons" pitchFamily="34" charset="-120"/>
              </a:rPr>
              <a:t>How It Works</a:t>
            </a:r>
            <a:endParaRPr lang="en-US" sz="4200" dirty="0"/>
          </a:p>
        </p:txBody>
      </p:sp>
      <p:sp>
        <p:nvSpPr>
          <p:cNvPr id="20" name="Text 18"/>
          <p:cNvSpPr/>
          <p:nvPr/>
        </p:nvSpPr>
        <p:spPr>
          <a:xfrm>
            <a:off x="749808" y="2212848"/>
            <a:ext cx="6309360" cy="4114800"/>
          </a:xfrm>
          <a:prstGeom prst="rect">
            <a:avLst/>
          </a:prstGeom>
          <a:noFill/>
          <a:ln/>
        </p:spPr>
        <p:txBody>
          <a:bodyPr wrap="square" rtlCol="0" anchor="t"/>
          <a:lstStyle/>
          <a:p>
            <a:pPr indent="0" marL="0">
              <a:buNone/>
            </a:pPr>
            <a:r>
              <a:rPr lang="en-US" sz="1570" dirty="0">
                <a:solidFill>
                  <a:srgbClr val="20252B"/>
                </a:solidFill>
                <a:latin typeface="DM Sans" pitchFamily="34" charset="0"/>
                <a:ea typeface="DM Sans" pitchFamily="34" charset="-122"/>
                <a:cs typeface="DM Sans" pitchFamily="34" charset="-120"/>
              </a:rPr>
              <a:t>By integrating plasmonic nanophotonics with advanced hydrogen generation and fuel-cell systems, the Plasmonic Hydrogen Power Generator converts light and thermal energy directly into electrical power.</a:t>
            </a:r>
            <a:endParaRPr lang="en-US" sz="1570" dirty="0"/>
          </a:p>
          <a:p>
            <a:pPr indent="0" marL="0">
              <a:buNone/>
            </a:pPr>
            <a:endParaRPr lang="en-US" sz="1570" dirty="0"/>
          </a:p>
          <a:p>
            <a:pPr indent="0" marL="0">
              <a:buNone/>
            </a:pPr>
            <a:r>
              <a:rPr lang="en-US" sz="1570" dirty="0">
                <a:solidFill>
                  <a:srgbClr val="20252B"/>
                </a:solidFill>
                <a:latin typeface="DM Sans" pitchFamily="34" charset="0"/>
                <a:ea typeface="DM Sans" pitchFamily="34" charset="-122"/>
                <a:cs typeface="DM Sans" pitchFamily="34" charset="-120"/>
              </a:rPr>
              <a:t>The plasmonic nanoparticles, engineered metallic structures that amplify electromagnetic fields, enhance catalytic water-splitting reactions, enabling direct solar-to-hydrogen conversion with minimal energy loss.</a:t>
            </a:r>
            <a:endParaRPr lang="en-US" sz="1570" dirty="0"/>
          </a:p>
          <a:p>
            <a:pPr indent="0" marL="0">
              <a:buNone/>
            </a:pPr>
            <a:endParaRPr lang="en-US" sz="1570" dirty="0"/>
          </a:p>
          <a:p>
            <a:pPr indent="0" marL="0">
              <a:buNone/>
            </a:pPr>
            <a:r>
              <a:rPr lang="en-US" sz="1570" dirty="0">
                <a:solidFill>
                  <a:srgbClr val="20252B"/>
                </a:solidFill>
                <a:latin typeface="DM Sans" pitchFamily="34" charset="0"/>
                <a:ea typeface="DM Sans" pitchFamily="34" charset="-122"/>
                <a:cs typeface="DM Sans" pitchFamily="34" charset="-120"/>
              </a:rPr>
              <a:t>Traditional photovoltaic and electrolysis systems face energy losses, bandgap limitations, and catalyst degradation. In contrast, plasmonic-enhanced hydrogen generation is described as achieving higher photon-to-fuel conversion rates, lower activation energy, and long-term operational stability.</a:t>
            </a:r>
            <a:endParaRPr lang="en-US" sz="1570" dirty="0"/>
          </a:p>
        </p:txBody>
      </p:sp>
      <p:sp>
        <p:nvSpPr>
          <p:cNvPr id="21" name="Shape 19"/>
          <p:cNvSpPr/>
          <p:nvPr/>
        </p:nvSpPr>
        <p:spPr>
          <a:xfrm>
            <a:off x="7635240" y="1645920"/>
            <a:ext cx="3867912" cy="1554480"/>
          </a:xfrm>
          <a:prstGeom prst="roundRect">
            <a:avLst/>
          </a:prstGeom>
          <a:solidFill>
            <a:srgbClr val="FFFFFF"/>
          </a:solidFill>
          <a:ln w="12700">
            <a:solidFill>
              <a:srgbClr val="CFC8BA"/>
            </a:solidFill>
            <a:prstDash val="solid"/>
          </a:ln>
        </p:spPr>
      </p:sp>
      <p:sp>
        <p:nvSpPr>
          <p:cNvPr id="22" name="Text 20"/>
          <p:cNvSpPr/>
          <p:nvPr/>
        </p:nvSpPr>
        <p:spPr>
          <a:xfrm>
            <a:off x="7818120" y="1783080"/>
            <a:ext cx="3474720" cy="256032"/>
          </a:xfrm>
          <a:prstGeom prst="rect">
            <a:avLst/>
          </a:prstGeom>
          <a:noFill/>
          <a:ln/>
        </p:spPr>
        <p:txBody>
          <a:bodyPr wrap="square" rtlCol="0" anchor="ctr"/>
          <a:lstStyle/>
          <a:p>
            <a:pPr indent="0" marL="0">
              <a:buNone/>
            </a:pPr>
            <a:r>
              <a:rPr lang="en-US" sz="1300" b="1" dirty="0">
                <a:solidFill>
                  <a:srgbClr val="1E5A2A"/>
                </a:solidFill>
                <a:latin typeface="DM Sans" pitchFamily="34" charset="0"/>
                <a:ea typeface="DM Sans" pitchFamily="34" charset="-122"/>
                <a:cs typeface="DM Sans" pitchFamily="34" charset="-120"/>
              </a:rPr>
              <a:t>Capture</a:t>
            </a:r>
            <a:endParaRPr lang="en-US" sz="1300" dirty="0"/>
          </a:p>
        </p:txBody>
      </p:sp>
      <p:sp>
        <p:nvSpPr>
          <p:cNvPr id="23" name="Text 21"/>
          <p:cNvSpPr/>
          <p:nvPr/>
        </p:nvSpPr>
        <p:spPr>
          <a:xfrm>
            <a:off x="7818120" y="2084832"/>
            <a:ext cx="3566160" cy="960120"/>
          </a:xfrm>
          <a:prstGeom prst="rect">
            <a:avLst/>
          </a:prstGeom>
          <a:noFill/>
          <a:ln/>
        </p:spPr>
        <p:txBody>
          <a:bodyPr wrap="square" rtlCol="0" anchor="ctr"/>
          <a:lstStyle/>
          <a:p>
            <a:pPr indent="0" marL="0">
              <a:buNone/>
            </a:pPr>
            <a:r>
              <a:rPr lang="en-US" sz="1350" dirty="0">
                <a:solidFill>
                  <a:srgbClr val="20252B"/>
                </a:solidFill>
                <a:latin typeface="DM Sans" pitchFamily="34" charset="0"/>
                <a:ea typeface="DM Sans" pitchFamily="34" charset="-122"/>
                <a:cs typeface="DM Sans" pitchFamily="34" charset="-120"/>
              </a:rPr>
              <a:t>Light and low-grade thermal energy are concentrated by plasmonic nanostructures.</a:t>
            </a:r>
            <a:endParaRPr lang="en-US" sz="1350" dirty="0"/>
          </a:p>
        </p:txBody>
      </p:sp>
      <p:sp>
        <p:nvSpPr>
          <p:cNvPr id="24" name="Shape 22"/>
          <p:cNvSpPr/>
          <p:nvPr/>
        </p:nvSpPr>
        <p:spPr>
          <a:xfrm>
            <a:off x="7635240" y="3328416"/>
            <a:ext cx="3867912" cy="1554480"/>
          </a:xfrm>
          <a:prstGeom prst="roundRect">
            <a:avLst/>
          </a:prstGeom>
          <a:solidFill>
            <a:srgbClr val="FFFFFF"/>
          </a:solidFill>
          <a:ln w="12700">
            <a:solidFill>
              <a:srgbClr val="CFC8BA"/>
            </a:solidFill>
            <a:prstDash val="solid"/>
          </a:ln>
        </p:spPr>
      </p:sp>
      <p:sp>
        <p:nvSpPr>
          <p:cNvPr id="25" name="Text 23"/>
          <p:cNvSpPr/>
          <p:nvPr/>
        </p:nvSpPr>
        <p:spPr>
          <a:xfrm>
            <a:off x="7818120" y="3465576"/>
            <a:ext cx="3474720" cy="256032"/>
          </a:xfrm>
          <a:prstGeom prst="rect">
            <a:avLst/>
          </a:prstGeom>
          <a:noFill/>
          <a:ln/>
        </p:spPr>
        <p:txBody>
          <a:bodyPr wrap="square" rtlCol="0" anchor="ctr"/>
          <a:lstStyle/>
          <a:p>
            <a:pPr indent="0" marL="0">
              <a:buNone/>
            </a:pPr>
            <a:r>
              <a:rPr lang="en-US" sz="1300" b="1" dirty="0">
                <a:solidFill>
                  <a:srgbClr val="1E5A2A"/>
                </a:solidFill>
                <a:latin typeface="DM Sans" pitchFamily="34" charset="0"/>
                <a:ea typeface="DM Sans" pitchFamily="34" charset="-122"/>
                <a:cs typeface="DM Sans" pitchFamily="34" charset="-120"/>
              </a:rPr>
              <a:t>Convert</a:t>
            </a:r>
            <a:endParaRPr lang="en-US" sz="1300" dirty="0"/>
          </a:p>
        </p:txBody>
      </p:sp>
      <p:sp>
        <p:nvSpPr>
          <p:cNvPr id="26" name="Text 24"/>
          <p:cNvSpPr/>
          <p:nvPr/>
        </p:nvSpPr>
        <p:spPr>
          <a:xfrm>
            <a:off x="7818120" y="3767328"/>
            <a:ext cx="3566160" cy="960120"/>
          </a:xfrm>
          <a:prstGeom prst="rect">
            <a:avLst/>
          </a:prstGeom>
          <a:noFill/>
          <a:ln/>
        </p:spPr>
        <p:txBody>
          <a:bodyPr wrap="square" rtlCol="0" anchor="ctr"/>
          <a:lstStyle/>
          <a:p>
            <a:pPr indent="0" marL="0">
              <a:buNone/>
            </a:pPr>
            <a:r>
              <a:rPr lang="en-US" sz="1350" dirty="0">
                <a:solidFill>
                  <a:srgbClr val="20252B"/>
                </a:solidFill>
                <a:latin typeface="DM Sans" pitchFamily="34" charset="0"/>
                <a:ea typeface="DM Sans" pitchFamily="34" charset="-122"/>
                <a:cs typeface="DM Sans" pitchFamily="34" charset="-120"/>
              </a:rPr>
              <a:t>Catalytic reactions split water into hydrogen and oxygen.</a:t>
            </a:r>
            <a:endParaRPr lang="en-US" sz="1350" dirty="0"/>
          </a:p>
        </p:txBody>
      </p:sp>
      <p:sp>
        <p:nvSpPr>
          <p:cNvPr id="27" name="Shape 25"/>
          <p:cNvSpPr/>
          <p:nvPr/>
        </p:nvSpPr>
        <p:spPr>
          <a:xfrm>
            <a:off x="7635240" y="5010912"/>
            <a:ext cx="3867912" cy="1554480"/>
          </a:xfrm>
          <a:prstGeom prst="roundRect">
            <a:avLst/>
          </a:prstGeom>
          <a:solidFill>
            <a:srgbClr val="FFFFFF"/>
          </a:solidFill>
          <a:ln w="12700">
            <a:solidFill>
              <a:srgbClr val="CFC8BA"/>
            </a:solidFill>
            <a:prstDash val="solid"/>
          </a:ln>
        </p:spPr>
      </p:sp>
      <p:sp>
        <p:nvSpPr>
          <p:cNvPr id="28" name="Text 26"/>
          <p:cNvSpPr/>
          <p:nvPr/>
        </p:nvSpPr>
        <p:spPr>
          <a:xfrm>
            <a:off x="7818120" y="5148072"/>
            <a:ext cx="3474720" cy="256032"/>
          </a:xfrm>
          <a:prstGeom prst="rect">
            <a:avLst/>
          </a:prstGeom>
          <a:noFill/>
          <a:ln/>
        </p:spPr>
        <p:txBody>
          <a:bodyPr wrap="square" rtlCol="0" anchor="ctr"/>
          <a:lstStyle/>
          <a:p>
            <a:pPr indent="0" marL="0">
              <a:buNone/>
            </a:pPr>
            <a:r>
              <a:rPr lang="en-US" sz="1300" b="1" dirty="0">
                <a:solidFill>
                  <a:srgbClr val="1E5A2A"/>
                </a:solidFill>
                <a:latin typeface="DM Sans" pitchFamily="34" charset="0"/>
                <a:ea typeface="DM Sans" pitchFamily="34" charset="-122"/>
                <a:cs typeface="DM Sans" pitchFamily="34" charset="-120"/>
              </a:rPr>
              <a:t>Deliver</a:t>
            </a:r>
            <a:endParaRPr lang="en-US" sz="1300" dirty="0"/>
          </a:p>
        </p:txBody>
      </p:sp>
      <p:sp>
        <p:nvSpPr>
          <p:cNvPr id="29" name="Text 27"/>
          <p:cNvSpPr/>
          <p:nvPr/>
        </p:nvSpPr>
        <p:spPr>
          <a:xfrm>
            <a:off x="7818120" y="5449824"/>
            <a:ext cx="3566160" cy="960120"/>
          </a:xfrm>
          <a:prstGeom prst="rect">
            <a:avLst/>
          </a:prstGeom>
          <a:noFill/>
          <a:ln/>
        </p:spPr>
        <p:txBody>
          <a:bodyPr wrap="square" rtlCol="0" anchor="ctr"/>
          <a:lstStyle/>
          <a:p>
            <a:pPr indent="0" marL="0">
              <a:buNone/>
            </a:pPr>
            <a:r>
              <a:rPr lang="en-US" sz="1350" dirty="0">
                <a:solidFill>
                  <a:srgbClr val="20252B"/>
                </a:solidFill>
                <a:latin typeface="DM Sans" pitchFamily="34" charset="0"/>
                <a:ea typeface="DM Sans" pitchFamily="34" charset="-122"/>
                <a:cs typeface="DM Sans" pitchFamily="34" charset="-120"/>
              </a:rPr>
              <a:t>Hydrogen is stored for later use or utilized immediately for continuous power, day or night.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384048" y="182880"/>
            <a:ext cx="4389120" cy="438912"/>
          </a:xfrm>
          <a:prstGeom prst="roundRect">
            <a:avLst/>
          </a:prstGeom>
          <a:solidFill>
            <a:srgbClr val="F8F6F1"/>
          </a:solidFill>
          <a:ln w="12700">
            <a:solidFill>
              <a:srgbClr val="CFC8BA"/>
            </a:solidFill>
            <a:prstDash val="solid"/>
          </a:ln>
        </p:spPr>
      </p:sp>
      <p:sp>
        <p:nvSpPr>
          <p:cNvPr id="3" name="Text 1"/>
          <p:cNvSpPr/>
          <p:nvPr/>
        </p:nvSpPr>
        <p:spPr>
          <a:xfrm>
            <a:off x="512064" y="283464"/>
            <a:ext cx="4114800" cy="237744"/>
          </a:xfrm>
          <a:prstGeom prst="rect">
            <a:avLst/>
          </a:prstGeom>
          <a:noFill/>
          <a:ln/>
        </p:spPr>
        <p:txBody>
          <a:bodyPr wrap="square" rtlCol="0" anchor="ctr"/>
          <a:lstStyle/>
          <a:p>
            <a:pPr indent="0" marL="0">
              <a:buNone/>
            </a:pPr>
            <a:r>
              <a:rPr lang="en-US" sz="1100" b="1" dirty="0">
                <a:solidFill>
                  <a:srgbClr val="1E5A2A"/>
                </a:solidFill>
                <a:latin typeface="DM Sans" pitchFamily="34" charset="0"/>
                <a:ea typeface="DM Sans" pitchFamily="34" charset="-122"/>
                <a:cs typeface="DM Sans" pitchFamily="34" charset="-120"/>
              </a:rPr>
              <a:t>Plasmonic Hydrogen Power Generator</a:t>
            </a:r>
            <a:endParaRPr lang="en-US" sz="1100" dirty="0"/>
          </a:p>
        </p:txBody>
      </p:sp>
      <p:sp>
        <p:nvSpPr>
          <p:cNvPr id="4" name="Text 2"/>
          <p:cNvSpPr/>
          <p:nvPr/>
        </p:nvSpPr>
        <p:spPr>
          <a:xfrm>
            <a:off x="10378440" y="283464"/>
            <a:ext cx="1371600" cy="237744"/>
          </a:xfrm>
          <a:prstGeom prst="rect">
            <a:avLst/>
          </a:prstGeom>
          <a:noFill/>
          <a:ln/>
        </p:spPr>
        <p:txBody>
          <a:bodyPr wrap="square" rtlCol="0" anchor="ctr"/>
          <a:lstStyle/>
          <a:p>
            <a:pPr algn="r" indent="0" marL="0">
              <a:buNone/>
            </a:pPr>
            <a:r>
              <a:rPr lang="en-US" sz="1050" b="1" dirty="0">
                <a:solidFill>
                  <a:srgbClr val="3A4048"/>
                </a:solidFill>
                <a:latin typeface="DM Sans" pitchFamily="34" charset="0"/>
                <a:ea typeface="DM Sans" pitchFamily="34" charset="-122"/>
                <a:cs typeface="DM Sans" pitchFamily="34" charset="-120"/>
              </a:rPr>
              <a:t>Slide 03 / 06</a:t>
            </a:r>
            <a:endParaRPr lang="en-US" sz="1050" dirty="0"/>
          </a:p>
        </p:txBody>
      </p:sp>
      <p:sp>
        <p:nvSpPr>
          <p:cNvPr id="5" name="Shape 3"/>
          <p:cNvSpPr/>
          <p:nvPr/>
        </p:nvSpPr>
        <p:spPr>
          <a:xfrm>
            <a:off x="411480" y="777240"/>
            <a:ext cx="1645920" cy="384048"/>
          </a:xfrm>
          <a:prstGeom prst="roundRect">
            <a:avLst/>
          </a:prstGeom>
          <a:solidFill>
            <a:srgbClr val="E7E2D8"/>
          </a:solidFill>
          <a:ln w="12700">
            <a:solidFill>
              <a:srgbClr val="CFC8BA"/>
            </a:solidFill>
            <a:prstDash val="solid"/>
          </a:ln>
        </p:spPr>
      </p:sp>
      <p:sp>
        <p:nvSpPr>
          <p:cNvPr id="6" name="Text 4"/>
          <p:cNvSpPr/>
          <p:nvPr/>
        </p:nvSpPr>
        <p:spPr>
          <a:xfrm>
            <a:off x="484632" y="868680"/>
            <a:ext cx="14996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01 Overview</a:t>
            </a:r>
            <a:endParaRPr lang="en-US" sz="950" dirty="0"/>
          </a:p>
        </p:txBody>
      </p:sp>
      <p:sp>
        <p:nvSpPr>
          <p:cNvPr id="7" name="Shape 5"/>
          <p:cNvSpPr/>
          <p:nvPr/>
        </p:nvSpPr>
        <p:spPr>
          <a:xfrm>
            <a:off x="2167128" y="777240"/>
            <a:ext cx="1874520" cy="384048"/>
          </a:xfrm>
          <a:prstGeom prst="roundRect">
            <a:avLst/>
          </a:prstGeom>
          <a:solidFill>
            <a:srgbClr val="E7E2D8"/>
          </a:solidFill>
          <a:ln w="12700">
            <a:solidFill>
              <a:srgbClr val="CFC8BA"/>
            </a:solidFill>
            <a:prstDash val="solid"/>
          </a:ln>
        </p:spPr>
      </p:sp>
      <p:sp>
        <p:nvSpPr>
          <p:cNvPr id="8" name="Text 6"/>
          <p:cNvSpPr/>
          <p:nvPr/>
        </p:nvSpPr>
        <p:spPr>
          <a:xfrm>
            <a:off x="2240280"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02 How It Works</a:t>
            </a:r>
            <a:endParaRPr lang="en-US" sz="950" dirty="0"/>
          </a:p>
        </p:txBody>
      </p:sp>
      <p:sp>
        <p:nvSpPr>
          <p:cNvPr id="9" name="Shape 7"/>
          <p:cNvSpPr/>
          <p:nvPr/>
        </p:nvSpPr>
        <p:spPr>
          <a:xfrm>
            <a:off x="4151376" y="777240"/>
            <a:ext cx="1783080" cy="384048"/>
          </a:xfrm>
          <a:prstGeom prst="roundRect">
            <a:avLst/>
          </a:prstGeom>
          <a:solidFill>
            <a:srgbClr val="C7D8BE"/>
          </a:solidFill>
          <a:ln w="12700">
            <a:solidFill>
              <a:srgbClr val="CFC8BA"/>
            </a:solidFill>
            <a:prstDash val="solid"/>
          </a:ln>
        </p:spPr>
      </p:sp>
      <p:sp>
        <p:nvSpPr>
          <p:cNvPr id="10" name="Text 8"/>
          <p:cNvSpPr/>
          <p:nvPr/>
        </p:nvSpPr>
        <p:spPr>
          <a:xfrm>
            <a:off x="4224528" y="868680"/>
            <a:ext cx="1636776" cy="201168"/>
          </a:xfrm>
          <a:prstGeom prst="rect">
            <a:avLst/>
          </a:prstGeom>
          <a:noFill/>
          <a:ln/>
        </p:spPr>
        <p:txBody>
          <a:bodyPr wrap="square" rtlCol="0" anchor="ctr"/>
          <a:lstStyle/>
          <a:p>
            <a:pPr algn="ctr" indent="0" marL="0">
              <a:buNone/>
            </a:pPr>
            <a:r>
              <a:rPr lang="en-US" sz="950" b="1" dirty="0">
                <a:solidFill>
                  <a:srgbClr val="1E5A2A"/>
                </a:solidFill>
                <a:latin typeface="DM Sans" pitchFamily="34" charset="0"/>
                <a:ea typeface="DM Sans" pitchFamily="34" charset="-122"/>
                <a:cs typeface="DM Sans" pitchFamily="34" charset="-120"/>
              </a:rPr>
              <a:t>03 Advantages I</a:t>
            </a:r>
            <a:endParaRPr lang="en-US" sz="950" dirty="0"/>
          </a:p>
        </p:txBody>
      </p:sp>
      <p:sp>
        <p:nvSpPr>
          <p:cNvPr id="11" name="Shape 9"/>
          <p:cNvSpPr/>
          <p:nvPr/>
        </p:nvSpPr>
        <p:spPr>
          <a:xfrm>
            <a:off x="6044184" y="777240"/>
            <a:ext cx="1874520" cy="384048"/>
          </a:xfrm>
          <a:prstGeom prst="roundRect">
            <a:avLst/>
          </a:prstGeom>
          <a:solidFill>
            <a:srgbClr val="E7E2D8"/>
          </a:solidFill>
          <a:ln w="12700">
            <a:solidFill>
              <a:srgbClr val="CFC8BA"/>
            </a:solidFill>
            <a:prstDash val="solid"/>
          </a:ln>
        </p:spPr>
      </p:sp>
      <p:sp>
        <p:nvSpPr>
          <p:cNvPr id="12" name="Text 10"/>
          <p:cNvSpPr/>
          <p:nvPr/>
        </p:nvSpPr>
        <p:spPr>
          <a:xfrm>
            <a:off x="6117336"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04 Advantages II</a:t>
            </a:r>
            <a:endParaRPr lang="en-US" sz="950" dirty="0"/>
          </a:p>
        </p:txBody>
      </p:sp>
      <p:sp>
        <p:nvSpPr>
          <p:cNvPr id="13" name="Shape 11"/>
          <p:cNvSpPr/>
          <p:nvPr/>
        </p:nvSpPr>
        <p:spPr>
          <a:xfrm>
            <a:off x="8028432" y="777240"/>
            <a:ext cx="1783080" cy="384048"/>
          </a:xfrm>
          <a:prstGeom prst="roundRect">
            <a:avLst/>
          </a:prstGeom>
          <a:solidFill>
            <a:srgbClr val="E7E2D8"/>
          </a:solidFill>
          <a:ln w="12700">
            <a:solidFill>
              <a:srgbClr val="CFC8BA"/>
            </a:solidFill>
            <a:prstDash val="solid"/>
          </a:ln>
        </p:spPr>
      </p:sp>
      <p:sp>
        <p:nvSpPr>
          <p:cNvPr id="14" name="Text 12"/>
          <p:cNvSpPr/>
          <p:nvPr/>
        </p:nvSpPr>
        <p:spPr>
          <a:xfrm>
            <a:off x="8101584"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05 Why It Matters</a:t>
            </a:r>
            <a:endParaRPr lang="en-US" sz="950" dirty="0"/>
          </a:p>
        </p:txBody>
      </p:sp>
      <p:sp>
        <p:nvSpPr>
          <p:cNvPr id="15" name="Shape 13"/>
          <p:cNvSpPr/>
          <p:nvPr/>
        </p:nvSpPr>
        <p:spPr>
          <a:xfrm>
            <a:off x="9921240" y="777240"/>
            <a:ext cx="1737360" cy="384048"/>
          </a:xfrm>
          <a:prstGeom prst="roundRect">
            <a:avLst/>
          </a:prstGeom>
          <a:solidFill>
            <a:srgbClr val="E7E2D8"/>
          </a:solidFill>
          <a:ln w="12700">
            <a:solidFill>
              <a:srgbClr val="CFC8BA"/>
            </a:solidFill>
            <a:prstDash val="solid"/>
          </a:ln>
        </p:spPr>
      </p:sp>
      <p:sp>
        <p:nvSpPr>
          <p:cNvPr id="16" name="Text 14"/>
          <p:cNvSpPr/>
          <p:nvPr/>
        </p:nvSpPr>
        <p:spPr>
          <a:xfrm>
            <a:off x="9994392" y="868680"/>
            <a:ext cx="159105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06 Future Vision</a:t>
            </a:r>
            <a:endParaRPr lang="en-US" sz="950" dirty="0"/>
          </a:p>
        </p:txBody>
      </p:sp>
      <p:sp>
        <p:nvSpPr>
          <p:cNvPr id="17" name="Shape 15"/>
          <p:cNvSpPr/>
          <p:nvPr/>
        </p:nvSpPr>
        <p:spPr>
          <a:xfrm>
            <a:off x="411480" y="1307592"/>
            <a:ext cx="6812280" cy="5212080"/>
          </a:xfrm>
          <a:prstGeom prst="roundRect">
            <a:avLst/>
          </a:prstGeom>
          <a:solidFill>
            <a:srgbClr val="FFFFFF"/>
          </a:solidFill>
          <a:ln w="12700">
            <a:solidFill>
              <a:srgbClr val="CFC8BA"/>
            </a:solidFill>
            <a:prstDash val="solid"/>
          </a:ln>
        </p:spPr>
      </p:sp>
      <p:sp>
        <p:nvSpPr>
          <p:cNvPr id="18" name="Shape 16"/>
          <p:cNvSpPr/>
          <p:nvPr/>
        </p:nvSpPr>
        <p:spPr>
          <a:xfrm>
            <a:off x="7360920" y="1307592"/>
            <a:ext cx="4416552" cy="5212080"/>
          </a:xfrm>
          <a:prstGeom prst="roundRect">
            <a:avLst/>
          </a:prstGeom>
          <a:solidFill>
            <a:srgbClr val="FFFFFF"/>
          </a:solidFill>
          <a:ln w="12700">
            <a:solidFill>
              <a:srgbClr val="CFC8BA"/>
            </a:solidFill>
            <a:prstDash val="solid"/>
          </a:ln>
        </p:spPr>
      </p:sp>
      <p:sp>
        <p:nvSpPr>
          <p:cNvPr id="19" name="Text 17"/>
          <p:cNvSpPr/>
          <p:nvPr/>
        </p:nvSpPr>
        <p:spPr>
          <a:xfrm>
            <a:off x="731520" y="1627632"/>
            <a:ext cx="5669280" cy="566928"/>
          </a:xfrm>
          <a:prstGeom prst="rect">
            <a:avLst/>
          </a:prstGeom>
          <a:noFill/>
          <a:ln/>
        </p:spPr>
        <p:txBody>
          <a:bodyPr wrap="square" rtlCol="0" anchor="ctr"/>
          <a:lstStyle/>
          <a:p>
            <a:pPr indent="0" marL="0">
              <a:buNone/>
            </a:pPr>
            <a:r>
              <a:rPr lang="en-US" sz="4200" dirty="0">
                <a:solidFill>
                  <a:srgbClr val="1E5A2A"/>
                </a:solidFill>
                <a:latin typeface="The Seasons" pitchFamily="34" charset="0"/>
                <a:ea typeface="The Seasons" pitchFamily="34" charset="-122"/>
                <a:cs typeface="The Seasons" pitchFamily="34" charset="-120"/>
              </a:rPr>
              <a:t>Key Advantages</a:t>
            </a:r>
            <a:endParaRPr lang="en-US" sz="4200" dirty="0"/>
          </a:p>
        </p:txBody>
      </p:sp>
      <p:sp>
        <p:nvSpPr>
          <p:cNvPr id="20" name="Text 18"/>
          <p:cNvSpPr/>
          <p:nvPr/>
        </p:nvSpPr>
        <p:spPr>
          <a:xfrm>
            <a:off x="749808" y="2157984"/>
            <a:ext cx="6217920" cy="310896"/>
          </a:xfrm>
          <a:prstGeom prst="rect">
            <a:avLst/>
          </a:prstGeom>
          <a:noFill/>
          <a:ln/>
        </p:spPr>
        <p:txBody>
          <a:bodyPr wrap="square" rtlCol="0" anchor="ctr"/>
          <a:lstStyle/>
          <a:p>
            <a:pPr indent="0" marL="0">
              <a:buNone/>
            </a:pPr>
            <a:r>
              <a:rPr lang="en-US" sz="1700" b="1" dirty="0">
                <a:solidFill>
                  <a:srgbClr val="20252B"/>
                </a:solidFill>
                <a:latin typeface="DM Sans" pitchFamily="34" charset="0"/>
                <a:ea typeface="DM Sans" pitchFamily="34" charset="-122"/>
                <a:cs typeface="DM Sans" pitchFamily="34" charset="-120"/>
              </a:rPr>
              <a:t>Core performance and deployment benefits</a:t>
            </a:r>
            <a:endParaRPr lang="en-US" sz="1700" dirty="0"/>
          </a:p>
        </p:txBody>
      </p:sp>
      <p:sp>
        <p:nvSpPr>
          <p:cNvPr id="21" name="Text 19"/>
          <p:cNvSpPr/>
          <p:nvPr/>
        </p:nvSpPr>
        <p:spPr>
          <a:xfrm>
            <a:off x="841248" y="2578608"/>
            <a:ext cx="6172200" cy="3611880"/>
          </a:xfrm>
          <a:prstGeom prst="rect">
            <a:avLst/>
          </a:prstGeom>
          <a:noFill/>
          <a:ln/>
        </p:spPr>
        <p:txBody>
          <a:bodyPr wrap="square" rtlCol="0" anchor="t"/>
          <a:lstStyle/>
          <a:p>
            <a:pPr marL="147638" indent="-147638">
              <a:buSzPct val="100000"/>
              <a:buChar char="•"/>
            </a:pPr>
            <a:r>
              <a:rPr lang="en-US" sz="1550" dirty="0">
                <a:solidFill>
                  <a:srgbClr val="20252B"/>
                </a:solidFill>
                <a:latin typeface="DM Sans" pitchFamily="34" charset="0"/>
                <a:ea typeface="DM Sans" pitchFamily="34" charset="-122"/>
                <a:cs typeface="DM Sans" pitchFamily="34" charset="-120"/>
              </a:rPr>
              <a:t>Unmatched Energy Efficiency: Plasmonic materials convert light into chemical energy with far higher efficiency than conventional photovoltaic or thermal systems.
</a:t>
            </a:r>
            <a:endParaRPr lang="en-US" sz="1550" dirty="0"/>
          </a:p>
          <a:p>
            <a:pPr marL="147638" indent="-147638">
              <a:buSzPct val="100000"/>
              <a:buChar char="•"/>
            </a:pPr>
            <a:r>
              <a:rPr lang="en-US" sz="1550" dirty="0">
                <a:solidFill>
                  <a:srgbClr val="20252B"/>
                </a:solidFill>
                <a:latin typeface="DM Sans" pitchFamily="34" charset="0"/>
                <a:ea typeface="DM Sans" pitchFamily="34" charset="-122"/>
                <a:cs typeface="DM Sans" pitchFamily="34" charset="-120"/>
              </a:rPr>
              <a:t>Continuous, On-Demand Power: Hydrogen storage allows uninterrupted operation, overcoming intermittency.
</a:t>
            </a:r>
            <a:endParaRPr lang="en-US" sz="1550" dirty="0"/>
          </a:p>
          <a:p>
            <a:pPr marL="147638" indent="-147638">
              <a:buSzPct val="100000"/>
              <a:buChar char="•"/>
            </a:pPr>
            <a:r>
              <a:rPr lang="en-US" sz="1550" dirty="0">
                <a:solidFill>
                  <a:srgbClr val="20252B"/>
                </a:solidFill>
                <a:latin typeface="DM Sans" pitchFamily="34" charset="0"/>
                <a:ea typeface="DM Sans" pitchFamily="34" charset="-122"/>
                <a:cs typeface="DM Sans" pitchFamily="34" charset="-120"/>
              </a:rPr>
              <a:t>True Zero-Emission Operation: The only by-product is pure water vapor.
</a:t>
            </a:r>
            <a:endParaRPr lang="en-US" sz="1550" dirty="0"/>
          </a:p>
          <a:p>
            <a:pPr marL="147638" indent="-147638">
              <a:buSzPct val="100000"/>
              <a:buChar char="•"/>
            </a:pPr>
            <a:r>
              <a:rPr lang="en-US" sz="1550" dirty="0">
                <a:solidFill>
                  <a:srgbClr val="20252B"/>
                </a:solidFill>
                <a:latin typeface="DM Sans" pitchFamily="34" charset="0"/>
                <a:ea typeface="DM Sans" pitchFamily="34" charset="-122"/>
                <a:cs typeface="DM Sans" pitchFamily="34" charset="-120"/>
              </a:rPr>
              <a:t>Extended Catalyst Longevity: Plasmonic nanostructures resist oxidation and thermal degradation.
</a:t>
            </a:r>
            <a:endParaRPr lang="en-US" sz="1550" dirty="0"/>
          </a:p>
        </p:txBody>
      </p:sp>
      <p:sp>
        <p:nvSpPr>
          <p:cNvPr id="22" name="Shape 20"/>
          <p:cNvSpPr/>
          <p:nvPr/>
        </p:nvSpPr>
        <p:spPr>
          <a:xfrm>
            <a:off x="7635240" y="1691640"/>
            <a:ext cx="3867912" cy="2377440"/>
          </a:xfrm>
          <a:prstGeom prst="roundRect">
            <a:avLst/>
          </a:prstGeom>
          <a:solidFill>
            <a:srgbClr val="FFFFFF"/>
          </a:solidFill>
          <a:ln w="12700">
            <a:solidFill>
              <a:srgbClr val="CFC8BA"/>
            </a:solidFill>
            <a:prstDash val="solid"/>
          </a:ln>
        </p:spPr>
      </p:sp>
      <p:sp>
        <p:nvSpPr>
          <p:cNvPr id="23" name="Text 21"/>
          <p:cNvSpPr/>
          <p:nvPr/>
        </p:nvSpPr>
        <p:spPr>
          <a:xfrm>
            <a:off x="7818120" y="1865376"/>
            <a:ext cx="3566160" cy="274320"/>
          </a:xfrm>
          <a:prstGeom prst="rect">
            <a:avLst/>
          </a:prstGeom>
          <a:noFill/>
          <a:ln/>
        </p:spPr>
        <p:txBody>
          <a:bodyPr wrap="square" rtlCol="0" anchor="ctr"/>
          <a:lstStyle/>
          <a:p>
            <a:pPr indent="0" marL="0">
              <a:buNone/>
            </a:pPr>
            <a:r>
              <a:rPr lang="en-US" sz="1300" b="1" dirty="0">
                <a:solidFill>
                  <a:srgbClr val="1E5A2A"/>
                </a:solidFill>
                <a:latin typeface="DM Sans" pitchFamily="34" charset="0"/>
                <a:ea typeface="DM Sans" pitchFamily="34" charset="-122"/>
                <a:cs typeface="DM Sans" pitchFamily="34" charset="-120"/>
              </a:rPr>
              <a:t>Deployment Advantages</a:t>
            </a:r>
            <a:endParaRPr lang="en-US" sz="1300" dirty="0"/>
          </a:p>
        </p:txBody>
      </p:sp>
      <p:sp>
        <p:nvSpPr>
          <p:cNvPr id="24" name="Text 22"/>
          <p:cNvSpPr/>
          <p:nvPr/>
        </p:nvSpPr>
        <p:spPr>
          <a:xfrm>
            <a:off x="7772400" y="2148840"/>
            <a:ext cx="3611880" cy="1691640"/>
          </a:xfrm>
          <a:prstGeom prst="rect">
            <a:avLst/>
          </a:prstGeom>
          <a:noFill/>
          <a:ln/>
        </p:spPr>
        <p:txBody>
          <a:bodyPr wrap="square" rtlCol="0" anchor="t"/>
          <a:lstStyle/>
          <a:p>
            <a:pPr marL="131445" indent="-131445">
              <a:buSzPct val="100000"/>
              <a:buChar char="•"/>
            </a:pPr>
            <a:r>
              <a:rPr lang="en-US" sz="1380" dirty="0">
                <a:solidFill>
                  <a:srgbClr val="20252B"/>
                </a:solidFill>
                <a:latin typeface="DM Sans" pitchFamily="34" charset="0"/>
                <a:ea typeface="DM Sans" pitchFamily="34" charset="-122"/>
                <a:cs typeface="DM Sans" pitchFamily="34" charset="-120"/>
              </a:rPr>
              <a:t>Compact, Modular Architecture
</a:t>
            </a:r>
            <a:endParaRPr lang="en-US" sz="1380" dirty="0"/>
          </a:p>
          <a:p>
            <a:pPr marL="131445" indent="-131445">
              <a:buSzPct val="100000"/>
              <a:buChar char="•"/>
            </a:pPr>
            <a:r>
              <a:rPr lang="en-US" sz="1380" dirty="0">
                <a:solidFill>
                  <a:srgbClr val="20252B"/>
                </a:solidFill>
                <a:latin typeface="DM Sans" pitchFamily="34" charset="0"/>
                <a:ea typeface="DM Sans" pitchFamily="34" charset="-122"/>
                <a:cs typeface="DM Sans" pitchFamily="34" charset="-120"/>
              </a:rPr>
              <a:t>Scalability and Modularity from compact units to megawatt-class installations
</a:t>
            </a:r>
            <a:endParaRPr lang="en-US" sz="1380" dirty="0"/>
          </a:p>
          <a:p>
            <a:pPr marL="131445" indent="-131445">
              <a:buSzPct val="100000"/>
              <a:buChar char="•"/>
            </a:pPr>
            <a:r>
              <a:rPr lang="en-US" sz="1380" dirty="0">
                <a:solidFill>
                  <a:srgbClr val="20252B"/>
                </a:solidFill>
                <a:latin typeface="DM Sans" pitchFamily="34" charset="0"/>
                <a:ea typeface="DM Sans" pitchFamily="34" charset="-122"/>
                <a:cs typeface="DM Sans" pitchFamily="34" charset="-120"/>
              </a:rPr>
              <a:t>Enhanced Durability and Low Maintenance
</a:t>
            </a:r>
            <a:endParaRPr lang="en-US" sz="1380" dirty="0"/>
          </a:p>
        </p:txBody>
      </p:sp>
      <p:sp>
        <p:nvSpPr>
          <p:cNvPr id="25" name="Shape 23"/>
          <p:cNvSpPr/>
          <p:nvPr/>
        </p:nvSpPr>
        <p:spPr>
          <a:xfrm>
            <a:off x="7635240" y="4251960"/>
            <a:ext cx="3867912" cy="2103120"/>
          </a:xfrm>
          <a:prstGeom prst="roundRect">
            <a:avLst/>
          </a:prstGeom>
          <a:solidFill>
            <a:srgbClr val="FFFFFF"/>
          </a:solidFill>
          <a:ln w="12700">
            <a:solidFill>
              <a:srgbClr val="CFC8BA"/>
            </a:solidFill>
            <a:prstDash val="solid"/>
          </a:ln>
        </p:spPr>
      </p:sp>
      <p:sp>
        <p:nvSpPr>
          <p:cNvPr id="26" name="Text 24"/>
          <p:cNvSpPr/>
          <p:nvPr/>
        </p:nvSpPr>
        <p:spPr>
          <a:xfrm>
            <a:off x="7818120" y="4416552"/>
            <a:ext cx="3383280" cy="219456"/>
          </a:xfrm>
          <a:prstGeom prst="rect">
            <a:avLst/>
          </a:prstGeom>
          <a:noFill/>
          <a:ln/>
        </p:spPr>
        <p:txBody>
          <a:bodyPr wrap="square" rtlCol="0" anchor="ctr"/>
          <a:lstStyle/>
          <a:p>
            <a:pPr indent="0" marL="0">
              <a:buNone/>
            </a:pPr>
            <a:r>
              <a:rPr lang="en-US" sz="1300" b="1" dirty="0">
                <a:solidFill>
                  <a:srgbClr val="1E5A2A"/>
                </a:solidFill>
                <a:latin typeface="DM Sans" pitchFamily="34" charset="0"/>
                <a:ea typeface="DM Sans" pitchFamily="34" charset="-122"/>
                <a:cs typeface="DM Sans" pitchFamily="34" charset="-120"/>
              </a:rPr>
              <a:t>Note</a:t>
            </a:r>
            <a:endParaRPr lang="en-US" sz="1300" dirty="0"/>
          </a:p>
        </p:txBody>
      </p:sp>
      <p:sp>
        <p:nvSpPr>
          <p:cNvPr id="27" name="Text 25"/>
          <p:cNvSpPr/>
          <p:nvPr/>
        </p:nvSpPr>
        <p:spPr>
          <a:xfrm>
            <a:off x="7818120" y="4663440"/>
            <a:ext cx="3566160" cy="1463040"/>
          </a:xfrm>
          <a:prstGeom prst="rect">
            <a:avLst/>
          </a:prstGeom>
          <a:noFill/>
          <a:ln/>
        </p:spPr>
        <p:txBody>
          <a:bodyPr wrap="square" rtlCol="0" anchor="ctr"/>
          <a:lstStyle/>
          <a:p>
            <a:pPr indent="0" marL="0">
              <a:buNone/>
            </a:pPr>
            <a:r>
              <a:rPr lang="en-US" sz="1330" dirty="0">
                <a:solidFill>
                  <a:srgbClr val="20252B"/>
                </a:solidFill>
                <a:latin typeface="DM Sans" pitchFamily="34" charset="0"/>
                <a:ea typeface="DM Sans" pitchFamily="34" charset="-122"/>
                <a:cs typeface="DM Sans" pitchFamily="34" charset="-120"/>
              </a:rPr>
              <a:t>Hydrogen produced through this process can be stored for later use or utilized immediately to ensure continuous, zero-emission power generation day or night, regardless of weather conditions.</a:t>
            </a:r>
            <a:endParaRPr lang="en-US" sz="13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384048" y="182880"/>
            <a:ext cx="4389120" cy="438912"/>
          </a:xfrm>
          <a:prstGeom prst="roundRect">
            <a:avLst/>
          </a:prstGeom>
          <a:solidFill>
            <a:srgbClr val="F8F6F1"/>
          </a:solidFill>
          <a:ln w="12700">
            <a:solidFill>
              <a:srgbClr val="CFC8BA"/>
            </a:solidFill>
            <a:prstDash val="solid"/>
          </a:ln>
        </p:spPr>
      </p:sp>
      <p:sp>
        <p:nvSpPr>
          <p:cNvPr id="3" name="Text 1"/>
          <p:cNvSpPr/>
          <p:nvPr/>
        </p:nvSpPr>
        <p:spPr>
          <a:xfrm>
            <a:off x="512064" y="283464"/>
            <a:ext cx="4114800" cy="237744"/>
          </a:xfrm>
          <a:prstGeom prst="rect">
            <a:avLst/>
          </a:prstGeom>
          <a:noFill/>
          <a:ln/>
        </p:spPr>
        <p:txBody>
          <a:bodyPr wrap="square" rtlCol="0" anchor="ctr"/>
          <a:lstStyle/>
          <a:p>
            <a:pPr indent="0" marL="0">
              <a:buNone/>
            </a:pPr>
            <a:r>
              <a:rPr lang="en-US" sz="1100" b="1" dirty="0">
                <a:solidFill>
                  <a:srgbClr val="1E5A2A"/>
                </a:solidFill>
                <a:latin typeface="DM Sans" pitchFamily="34" charset="0"/>
                <a:ea typeface="DM Sans" pitchFamily="34" charset="-122"/>
                <a:cs typeface="DM Sans" pitchFamily="34" charset="-120"/>
              </a:rPr>
              <a:t>Plasmonic Hydrogen Power Generator</a:t>
            </a:r>
            <a:endParaRPr lang="en-US" sz="1100" dirty="0"/>
          </a:p>
        </p:txBody>
      </p:sp>
      <p:sp>
        <p:nvSpPr>
          <p:cNvPr id="4" name="Text 2"/>
          <p:cNvSpPr/>
          <p:nvPr/>
        </p:nvSpPr>
        <p:spPr>
          <a:xfrm>
            <a:off x="10378440" y="283464"/>
            <a:ext cx="1371600" cy="237744"/>
          </a:xfrm>
          <a:prstGeom prst="rect">
            <a:avLst/>
          </a:prstGeom>
          <a:noFill/>
          <a:ln/>
        </p:spPr>
        <p:txBody>
          <a:bodyPr wrap="square" rtlCol="0" anchor="ctr"/>
          <a:lstStyle/>
          <a:p>
            <a:pPr algn="r" indent="0" marL="0">
              <a:buNone/>
            </a:pPr>
            <a:r>
              <a:rPr lang="en-US" sz="1050" b="1" dirty="0">
                <a:solidFill>
                  <a:srgbClr val="3A4048"/>
                </a:solidFill>
                <a:latin typeface="DM Sans" pitchFamily="34" charset="0"/>
                <a:ea typeface="DM Sans" pitchFamily="34" charset="-122"/>
                <a:cs typeface="DM Sans" pitchFamily="34" charset="-120"/>
              </a:rPr>
              <a:t>Slide 04 / 06</a:t>
            </a:r>
            <a:endParaRPr lang="en-US" sz="1050" dirty="0"/>
          </a:p>
        </p:txBody>
      </p:sp>
      <p:sp>
        <p:nvSpPr>
          <p:cNvPr id="5" name="Shape 3"/>
          <p:cNvSpPr/>
          <p:nvPr/>
        </p:nvSpPr>
        <p:spPr>
          <a:xfrm>
            <a:off x="411480" y="777240"/>
            <a:ext cx="1645920" cy="384048"/>
          </a:xfrm>
          <a:prstGeom prst="roundRect">
            <a:avLst/>
          </a:prstGeom>
          <a:solidFill>
            <a:srgbClr val="E7E2D8"/>
          </a:solidFill>
          <a:ln w="12700">
            <a:solidFill>
              <a:srgbClr val="CFC8BA"/>
            </a:solidFill>
            <a:prstDash val="solid"/>
          </a:ln>
        </p:spPr>
      </p:sp>
      <p:sp>
        <p:nvSpPr>
          <p:cNvPr id="6" name="Text 4"/>
          <p:cNvSpPr/>
          <p:nvPr/>
        </p:nvSpPr>
        <p:spPr>
          <a:xfrm>
            <a:off x="484632" y="868680"/>
            <a:ext cx="14996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01 Overview</a:t>
            </a:r>
            <a:endParaRPr lang="en-US" sz="950" dirty="0"/>
          </a:p>
        </p:txBody>
      </p:sp>
      <p:sp>
        <p:nvSpPr>
          <p:cNvPr id="7" name="Shape 5"/>
          <p:cNvSpPr/>
          <p:nvPr/>
        </p:nvSpPr>
        <p:spPr>
          <a:xfrm>
            <a:off x="2167128" y="777240"/>
            <a:ext cx="1874520" cy="384048"/>
          </a:xfrm>
          <a:prstGeom prst="roundRect">
            <a:avLst/>
          </a:prstGeom>
          <a:solidFill>
            <a:srgbClr val="E7E2D8"/>
          </a:solidFill>
          <a:ln w="12700">
            <a:solidFill>
              <a:srgbClr val="CFC8BA"/>
            </a:solidFill>
            <a:prstDash val="solid"/>
          </a:ln>
        </p:spPr>
      </p:sp>
      <p:sp>
        <p:nvSpPr>
          <p:cNvPr id="8" name="Text 6"/>
          <p:cNvSpPr/>
          <p:nvPr/>
        </p:nvSpPr>
        <p:spPr>
          <a:xfrm>
            <a:off x="2240280"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02 How It Works</a:t>
            </a:r>
            <a:endParaRPr lang="en-US" sz="950" dirty="0"/>
          </a:p>
        </p:txBody>
      </p:sp>
      <p:sp>
        <p:nvSpPr>
          <p:cNvPr id="9" name="Shape 7"/>
          <p:cNvSpPr/>
          <p:nvPr/>
        </p:nvSpPr>
        <p:spPr>
          <a:xfrm>
            <a:off x="4151376" y="777240"/>
            <a:ext cx="1783080" cy="384048"/>
          </a:xfrm>
          <a:prstGeom prst="roundRect">
            <a:avLst/>
          </a:prstGeom>
          <a:solidFill>
            <a:srgbClr val="E7E2D8"/>
          </a:solidFill>
          <a:ln w="12700">
            <a:solidFill>
              <a:srgbClr val="CFC8BA"/>
            </a:solidFill>
            <a:prstDash val="solid"/>
          </a:ln>
        </p:spPr>
      </p:sp>
      <p:sp>
        <p:nvSpPr>
          <p:cNvPr id="10" name="Text 8"/>
          <p:cNvSpPr/>
          <p:nvPr/>
        </p:nvSpPr>
        <p:spPr>
          <a:xfrm>
            <a:off x="4224528"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03 Advantages I</a:t>
            </a:r>
            <a:endParaRPr lang="en-US" sz="950" dirty="0"/>
          </a:p>
        </p:txBody>
      </p:sp>
      <p:sp>
        <p:nvSpPr>
          <p:cNvPr id="11" name="Shape 9"/>
          <p:cNvSpPr/>
          <p:nvPr/>
        </p:nvSpPr>
        <p:spPr>
          <a:xfrm>
            <a:off x="6044184" y="777240"/>
            <a:ext cx="1874520" cy="384048"/>
          </a:xfrm>
          <a:prstGeom prst="roundRect">
            <a:avLst/>
          </a:prstGeom>
          <a:solidFill>
            <a:srgbClr val="C7D8BE"/>
          </a:solidFill>
          <a:ln w="12700">
            <a:solidFill>
              <a:srgbClr val="CFC8BA"/>
            </a:solidFill>
            <a:prstDash val="solid"/>
          </a:ln>
        </p:spPr>
      </p:sp>
      <p:sp>
        <p:nvSpPr>
          <p:cNvPr id="12" name="Text 10"/>
          <p:cNvSpPr/>
          <p:nvPr/>
        </p:nvSpPr>
        <p:spPr>
          <a:xfrm>
            <a:off x="6117336" y="868680"/>
            <a:ext cx="1728216" cy="201168"/>
          </a:xfrm>
          <a:prstGeom prst="rect">
            <a:avLst/>
          </a:prstGeom>
          <a:noFill/>
          <a:ln/>
        </p:spPr>
        <p:txBody>
          <a:bodyPr wrap="square" rtlCol="0" anchor="ctr"/>
          <a:lstStyle/>
          <a:p>
            <a:pPr algn="ctr" indent="0" marL="0">
              <a:buNone/>
            </a:pPr>
            <a:r>
              <a:rPr lang="en-US" sz="950" b="1" dirty="0">
                <a:solidFill>
                  <a:srgbClr val="1E5A2A"/>
                </a:solidFill>
                <a:latin typeface="DM Sans" pitchFamily="34" charset="0"/>
                <a:ea typeface="DM Sans" pitchFamily="34" charset="-122"/>
                <a:cs typeface="DM Sans" pitchFamily="34" charset="-120"/>
              </a:rPr>
              <a:t>04 Advantages II</a:t>
            </a:r>
            <a:endParaRPr lang="en-US" sz="950" dirty="0"/>
          </a:p>
        </p:txBody>
      </p:sp>
      <p:sp>
        <p:nvSpPr>
          <p:cNvPr id="13" name="Shape 11"/>
          <p:cNvSpPr/>
          <p:nvPr/>
        </p:nvSpPr>
        <p:spPr>
          <a:xfrm>
            <a:off x="8028432" y="777240"/>
            <a:ext cx="1783080" cy="384048"/>
          </a:xfrm>
          <a:prstGeom prst="roundRect">
            <a:avLst/>
          </a:prstGeom>
          <a:solidFill>
            <a:srgbClr val="E7E2D8"/>
          </a:solidFill>
          <a:ln w="12700">
            <a:solidFill>
              <a:srgbClr val="CFC8BA"/>
            </a:solidFill>
            <a:prstDash val="solid"/>
          </a:ln>
        </p:spPr>
      </p:sp>
      <p:sp>
        <p:nvSpPr>
          <p:cNvPr id="14" name="Text 12"/>
          <p:cNvSpPr/>
          <p:nvPr/>
        </p:nvSpPr>
        <p:spPr>
          <a:xfrm>
            <a:off x="8101584"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05 Why It Matters</a:t>
            </a:r>
            <a:endParaRPr lang="en-US" sz="950" dirty="0"/>
          </a:p>
        </p:txBody>
      </p:sp>
      <p:sp>
        <p:nvSpPr>
          <p:cNvPr id="15" name="Shape 13"/>
          <p:cNvSpPr/>
          <p:nvPr/>
        </p:nvSpPr>
        <p:spPr>
          <a:xfrm>
            <a:off x="9921240" y="777240"/>
            <a:ext cx="1737360" cy="384048"/>
          </a:xfrm>
          <a:prstGeom prst="roundRect">
            <a:avLst/>
          </a:prstGeom>
          <a:solidFill>
            <a:srgbClr val="E7E2D8"/>
          </a:solidFill>
          <a:ln w="12700">
            <a:solidFill>
              <a:srgbClr val="CFC8BA"/>
            </a:solidFill>
            <a:prstDash val="solid"/>
          </a:ln>
        </p:spPr>
      </p:sp>
      <p:sp>
        <p:nvSpPr>
          <p:cNvPr id="16" name="Text 14"/>
          <p:cNvSpPr/>
          <p:nvPr/>
        </p:nvSpPr>
        <p:spPr>
          <a:xfrm>
            <a:off x="9994392" y="868680"/>
            <a:ext cx="159105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06 Future Vision</a:t>
            </a:r>
            <a:endParaRPr lang="en-US" sz="950" dirty="0"/>
          </a:p>
        </p:txBody>
      </p:sp>
      <p:sp>
        <p:nvSpPr>
          <p:cNvPr id="17" name="Shape 15"/>
          <p:cNvSpPr/>
          <p:nvPr/>
        </p:nvSpPr>
        <p:spPr>
          <a:xfrm>
            <a:off x="411480" y="1307592"/>
            <a:ext cx="6812280" cy="5212080"/>
          </a:xfrm>
          <a:prstGeom prst="roundRect">
            <a:avLst/>
          </a:prstGeom>
          <a:solidFill>
            <a:srgbClr val="FFFFFF"/>
          </a:solidFill>
          <a:ln w="12700">
            <a:solidFill>
              <a:srgbClr val="CFC8BA"/>
            </a:solidFill>
            <a:prstDash val="solid"/>
          </a:ln>
        </p:spPr>
      </p:sp>
      <p:sp>
        <p:nvSpPr>
          <p:cNvPr id="18" name="Shape 16"/>
          <p:cNvSpPr/>
          <p:nvPr/>
        </p:nvSpPr>
        <p:spPr>
          <a:xfrm>
            <a:off x="7360920" y="1307592"/>
            <a:ext cx="4416552" cy="5212080"/>
          </a:xfrm>
          <a:prstGeom prst="roundRect">
            <a:avLst/>
          </a:prstGeom>
          <a:solidFill>
            <a:srgbClr val="FFFFFF"/>
          </a:solidFill>
          <a:ln w="12700">
            <a:solidFill>
              <a:srgbClr val="CFC8BA"/>
            </a:solidFill>
            <a:prstDash val="solid"/>
          </a:ln>
        </p:spPr>
      </p:sp>
      <p:sp>
        <p:nvSpPr>
          <p:cNvPr id="19" name="Text 17"/>
          <p:cNvSpPr/>
          <p:nvPr/>
        </p:nvSpPr>
        <p:spPr>
          <a:xfrm>
            <a:off x="731520" y="1627632"/>
            <a:ext cx="5669280" cy="566928"/>
          </a:xfrm>
          <a:prstGeom prst="rect">
            <a:avLst/>
          </a:prstGeom>
          <a:noFill/>
          <a:ln/>
        </p:spPr>
        <p:txBody>
          <a:bodyPr wrap="square" rtlCol="0" anchor="ctr"/>
          <a:lstStyle/>
          <a:p>
            <a:pPr indent="0" marL="0">
              <a:buNone/>
            </a:pPr>
            <a:r>
              <a:rPr lang="en-US" sz="4200" dirty="0">
                <a:solidFill>
                  <a:srgbClr val="1E5A2A"/>
                </a:solidFill>
                <a:latin typeface="The Seasons" pitchFamily="34" charset="0"/>
                <a:ea typeface="The Seasons" pitchFamily="34" charset="-122"/>
                <a:cs typeface="The Seasons" pitchFamily="34" charset="-120"/>
              </a:rPr>
              <a:t>System-Level Value</a:t>
            </a:r>
            <a:endParaRPr lang="en-US" sz="4200" dirty="0"/>
          </a:p>
        </p:txBody>
      </p:sp>
      <p:sp>
        <p:nvSpPr>
          <p:cNvPr id="20" name="Text 18"/>
          <p:cNvSpPr/>
          <p:nvPr/>
        </p:nvSpPr>
        <p:spPr>
          <a:xfrm>
            <a:off x="841248" y="2286000"/>
            <a:ext cx="6172200" cy="3566160"/>
          </a:xfrm>
          <a:prstGeom prst="rect">
            <a:avLst/>
          </a:prstGeom>
          <a:noFill/>
          <a:ln/>
        </p:spPr>
        <p:txBody>
          <a:bodyPr wrap="square" rtlCol="0" anchor="t"/>
          <a:lstStyle/>
          <a:p>
            <a:pPr marL="152400" indent="-152400">
              <a:buSzPct val="100000"/>
              <a:buChar char="•"/>
            </a:pPr>
            <a:r>
              <a:rPr lang="en-US" sz="1600" dirty="0">
                <a:solidFill>
                  <a:srgbClr val="20252B"/>
                </a:solidFill>
                <a:latin typeface="DM Sans" pitchFamily="34" charset="0"/>
                <a:ea typeface="DM Sans" pitchFamily="34" charset="-122"/>
                <a:cs typeface="DM Sans" pitchFamily="34" charset="-120"/>
              </a:rPr>
              <a:t>Energy Independence and Security: By generating hydrogen fuel locally from water and sunlight, nations and communities can reduce dependence on imported fossil fuels and strengthen energy sovereignty.
</a:t>
            </a:r>
            <a:endParaRPr lang="en-US" sz="1600" dirty="0"/>
          </a:p>
          <a:p>
            <a:pPr marL="152400" indent="-152400">
              <a:buSzPct val="100000"/>
              <a:buChar char="•"/>
            </a:pPr>
            <a:r>
              <a:rPr lang="en-US" sz="1600" dirty="0">
                <a:solidFill>
                  <a:srgbClr val="20252B"/>
                </a:solidFill>
                <a:latin typeface="DM Sans" pitchFamily="34" charset="0"/>
                <a:ea typeface="DM Sans" pitchFamily="34" charset="-122"/>
                <a:cs typeface="DM Sans" pitchFamily="34" charset="-120"/>
              </a:rPr>
              <a:t>Future-Proof Integration: Fully compatible with existing hydrogen infrastructure, electric grids, and renewable platforms.
</a:t>
            </a:r>
            <a:endParaRPr lang="en-US" sz="1600" dirty="0"/>
          </a:p>
          <a:p>
            <a:pPr marL="152400" indent="-152400">
              <a:buSzPct val="100000"/>
              <a:buChar char="•"/>
            </a:pPr>
            <a:r>
              <a:rPr lang="en-US" sz="1600" dirty="0">
                <a:solidFill>
                  <a:srgbClr val="20252B"/>
                </a:solidFill>
                <a:latin typeface="DM Sans" pitchFamily="34" charset="0"/>
                <a:ea typeface="DM Sans" pitchFamily="34" charset="-122"/>
                <a:cs typeface="DM Sans" pitchFamily="34" charset="-120"/>
              </a:rPr>
              <a:t>Carbon-Free Cycle: From hydrogen production through power output, every stage is described as operating with zero greenhouse-gas emissions.
</a:t>
            </a:r>
            <a:endParaRPr lang="en-US" sz="1600" dirty="0"/>
          </a:p>
        </p:txBody>
      </p:sp>
      <p:sp>
        <p:nvSpPr>
          <p:cNvPr id="21" name="Shape 19"/>
          <p:cNvSpPr/>
          <p:nvPr/>
        </p:nvSpPr>
        <p:spPr>
          <a:xfrm>
            <a:off x="7635240" y="1719072"/>
            <a:ext cx="1828800" cy="2240280"/>
          </a:xfrm>
          <a:prstGeom prst="roundRect">
            <a:avLst/>
          </a:prstGeom>
          <a:solidFill>
            <a:srgbClr val="FFFFFF"/>
          </a:solidFill>
          <a:ln w="12700">
            <a:solidFill>
              <a:srgbClr val="CFC8BA"/>
            </a:solidFill>
            <a:prstDash val="solid"/>
          </a:ln>
        </p:spPr>
      </p:sp>
      <p:sp>
        <p:nvSpPr>
          <p:cNvPr id="22" name="Text 20"/>
          <p:cNvSpPr/>
          <p:nvPr/>
        </p:nvSpPr>
        <p:spPr>
          <a:xfrm>
            <a:off x="7772400" y="1865376"/>
            <a:ext cx="1554480" cy="219456"/>
          </a:xfrm>
          <a:prstGeom prst="rect">
            <a:avLst/>
          </a:prstGeom>
          <a:noFill/>
          <a:ln/>
        </p:spPr>
        <p:txBody>
          <a:bodyPr wrap="square" rtlCol="0" anchor="ctr"/>
          <a:lstStyle/>
          <a:p>
            <a:pPr indent="0" marL="0">
              <a:buNone/>
            </a:pPr>
            <a:r>
              <a:rPr lang="en-US" sz="1250" b="1" dirty="0">
                <a:solidFill>
                  <a:srgbClr val="1E5A2A"/>
                </a:solidFill>
                <a:latin typeface="DM Sans" pitchFamily="34" charset="0"/>
                <a:ea typeface="DM Sans" pitchFamily="34" charset="-122"/>
                <a:cs typeface="DM Sans" pitchFamily="34" charset="-120"/>
              </a:rPr>
              <a:t>Independence</a:t>
            </a:r>
            <a:endParaRPr lang="en-US" sz="1250" dirty="0"/>
          </a:p>
        </p:txBody>
      </p:sp>
      <p:sp>
        <p:nvSpPr>
          <p:cNvPr id="23" name="Text 21"/>
          <p:cNvSpPr/>
          <p:nvPr/>
        </p:nvSpPr>
        <p:spPr>
          <a:xfrm>
            <a:off x="7772400" y="2148840"/>
            <a:ext cx="1554480" cy="1600200"/>
          </a:xfrm>
          <a:prstGeom prst="rect">
            <a:avLst/>
          </a:prstGeom>
          <a:noFill/>
          <a:ln/>
        </p:spPr>
        <p:txBody>
          <a:bodyPr wrap="square" rtlCol="0" anchor="ctr"/>
          <a:lstStyle/>
          <a:p>
            <a:pPr indent="0" marL="0">
              <a:buNone/>
            </a:pPr>
            <a:r>
              <a:rPr lang="en-US" sz="1350" dirty="0">
                <a:solidFill>
                  <a:srgbClr val="20252B"/>
                </a:solidFill>
                <a:latin typeface="DM Sans" pitchFamily="34" charset="0"/>
                <a:ea typeface="DM Sans" pitchFamily="34" charset="-122"/>
                <a:cs typeface="DM Sans" pitchFamily="34" charset="-120"/>
              </a:rPr>
              <a:t>Local hydrogen generation</a:t>
            </a:r>
            <a:endParaRPr lang="en-US" sz="1350" dirty="0"/>
          </a:p>
        </p:txBody>
      </p:sp>
      <p:sp>
        <p:nvSpPr>
          <p:cNvPr id="24" name="Shape 22"/>
          <p:cNvSpPr/>
          <p:nvPr/>
        </p:nvSpPr>
        <p:spPr>
          <a:xfrm>
            <a:off x="9665208" y="1719072"/>
            <a:ext cx="1828800" cy="2240280"/>
          </a:xfrm>
          <a:prstGeom prst="roundRect">
            <a:avLst/>
          </a:prstGeom>
          <a:solidFill>
            <a:srgbClr val="FFFFFF"/>
          </a:solidFill>
          <a:ln w="12700">
            <a:solidFill>
              <a:srgbClr val="CFC8BA"/>
            </a:solidFill>
            <a:prstDash val="solid"/>
          </a:ln>
        </p:spPr>
      </p:sp>
      <p:sp>
        <p:nvSpPr>
          <p:cNvPr id="25" name="Text 23"/>
          <p:cNvSpPr/>
          <p:nvPr/>
        </p:nvSpPr>
        <p:spPr>
          <a:xfrm>
            <a:off x="9802368" y="1865376"/>
            <a:ext cx="1554480" cy="219456"/>
          </a:xfrm>
          <a:prstGeom prst="rect">
            <a:avLst/>
          </a:prstGeom>
          <a:noFill/>
          <a:ln/>
        </p:spPr>
        <p:txBody>
          <a:bodyPr wrap="square" rtlCol="0" anchor="ctr"/>
          <a:lstStyle/>
          <a:p>
            <a:pPr indent="0" marL="0">
              <a:buNone/>
            </a:pPr>
            <a:r>
              <a:rPr lang="en-US" sz="1250" b="1" dirty="0">
                <a:solidFill>
                  <a:srgbClr val="1E5A2A"/>
                </a:solidFill>
                <a:latin typeface="DM Sans" pitchFamily="34" charset="0"/>
                <a:ea typeface="DM Sans" pitchFamily="34" charset="-122"/>
                <a:cs typeface="DM Sans" pitchFamily="34" charset="-120"/>
              </a:rPr>
              <a:t>Integration</a:t>
            </a:r>
            <a:endParaRPr lang="en-US" sz="1250" dirty="0"/>
          </a:p>
        </p:txBody>
      </p:sp>
      <p:sp>
        <p:nvSpPr>
          <p:cNvPr id="26" name="Text 24"/>
          <p:cNvSpPr/>
          <p:nvPr/>
        </p:nvSpPr>
        <p:spPr>
          <a:xfrm>
            <a:off x="9802368" y="2148840"/>
            <a:ext cx="1554480" cy="1600200"/>
          </a:xfrm>
          <a:prstGeom prst="rect">
            <a:avLst/>
          </a:prstGeom>
          <a:noFill/>
          <a:ln/>
        </p:spPr>
        <p:txBody>
          <a:bodyPr wrap="square" rtlCol="0" anchor="ctr"/>
          <a:lstStyle/>
          <a:p>
            <a:pPr indent="0" marL="0">
              <a:buNone/>
            </a:pPr>
            <a:r>
              <a:rPr lang="en-US" sz="1350" dirty="0">
                <a:solidFill>
                  <a:srgbClr val="20252B"/>
                </a:solidFill>
                <a:latin typeface="DM Sans" pitchFamily="34" charset="0"/>
                <a:ea typeface="DM Sans" pitchFamily="34" charset="-122"/>
                <a:cs typeface="DM Sans" pitchFamily="34" charset="-120"/>
              </a:rPr>
              <a:t>Compatible with existing infrastructure</a:t>
            </a:r>
            <a:endParaRPr lang="en-US" sz="1350" dirty="0"/>
          </a:p>
        </p:txBody>
      </p:sp>
      <p:sp>
        <p:nvSpPr>
          <p:cNvPr id="27" name="Shape 25"/>
          <p:cNvSpPr/>
          <p:nvPr/>
        </p:nvSpPr>
        <p:spPr>
          <a:xfrm>
            <a:off x="7635240" y="4114800"/>
            <a:ext cx="1828800" cy="2240280"/>
          </a:xfrm>
          <a:prstGeom prst="roundRect">
            <a:avLst/>
          </a:prstGeom>
          <a:solidFill>
            <a:srgbClr val="FFFFFF"/>
          </a:solidFill>
          <a:ln w="12700">
            <a:solidFill>
              <a:srgbClr val="CFC8BA"/>
            </a:solidFill>
            <a:prstDash val="solid"/>
          </a:ln>
        </p:spPr>
      </p:sp>
      <p:sp>
        <p:nvSpPr>
          <p:cNvPr id="28" name="Text 26"/>
          <p:cNvSpPr/>
          <p:nvPr/>
        </p:nvSpPr>
        <p:spPr>
          <a:xfrm>
            <a:off x="7772400" y="4261104"/>
            <a:ext cx="1554480" cy="219456"/>
          </a:xfrm>
          <a:prstGeom prst="rect">
            <a:avLst/>
          </a:prstGeom>
          <a:noFill/>
          <a:ln/>
        </p:spPr>
        <p:txBody>
          <a:bodyPr wrap="square" rtlCol="0" anchor="ctr"/>
          <a:lstStyle/>
          <a:p>
            <a:pPr indent="0" marL="0">
              <a:buNone/>
            </a:pPr>
            <a:r>
              <a:rPr lang="en-US" sz="1250" b="1" dirty="0">
                <a:solidFill>
                  <a:srgbClr val="1E5A2A"/>
                </a:solidFill>
                <a:latin typeface="DM Sans" pitchFamily="34" charset="0"/>
                <a:ea typeface="DM Sans" pitchFamily="34" charset="-122"/>
                <a:cs typeface="DM Sans" pitchFamily="34" charset="-120"/>
              </a:rPr>
              <a:t>Security</a:t>
            </a:r>
            <a:endParaRPr lang="en-US" sz="1250" dirty="0"/>
          </a:p>
        </p:txBody>
      </p:sp>
      <p:sp>
        <p:nvSpPr>
          <p:cNvPr id="29" name="Text 27"/>
          <p:cNvSpPr/>
          <p:nvPr/>
        </p:nvSpPr>
        <p:spPr>
          <a:xfrm>
            <a:off x="7772400" y="4544568"/>
            <a:ext cx="1554480" cy="1600200"/>
          </a:xfrm>
          <a:prstGeom prst="rect">
            <a:avLst/>
          </a:prstGeom>
          <a:noFill/>
          <a:ln/>
        </p:spPr>
        <p:txBody>
          <a:bodyPr wrap="square" rtlCol="0" anchor="ctr"/>
          <a:lstStyle/>
          <a:p>
            <a:pPr indent="0" marL="0">
              <a:buNone/>
            </a:pPr>
            <a:r>
              <a:rPr lang="en-US" sz="1350" dirty="0">
                <a:solidFill>
                  <a:srgbClr val="20252B"/>
                </a:solidFill>
                <a:latin typeface="DM Sans" pitchFamily="34" charset="0"/>
                <a:ea typeface="DM Sans" pitchFamily="34" charset="-122"/>
                <a:cs typeface="DM Sans" pitchFamily="34" charset="-120"/>
              </a:rPr>
              <a:t>Reduced fossil-fuel dependence</a:t>
            </a:r>
            <a:endParaRPr lang="en-US" sz="1350" dirty="0"/>
          </a:p>
        </p:txBody>
      </p:sp>
      <p:sp>
        <p:nvSpPr>
          <p:cNvPr id="30" name="Shape 28"/>
          <p:cNvSpPr/>
          <p:nvPr/>
        </p:nvSpPr>
        <p:spPr>
          <a:xfrm>
            <a:off x="9665208" y="4114800"/>
            <a:ext cx="1828800" cy="2240280"/>
          </a:xfrm>
          <a:prstGeom prst="roundRect">
            <a:avLst/>
          </a:prstGeom>
          <a:solidFill>
            <a:srgbClr val="FFFFFF"/>
          </a:solidFill>
          <a:ln w="12700">
            <a:solidFill>
              <a:srgbClr val="CFC8BA"/>
            </a:solidFill>
            <a:prstDash val="solid"/>
          </a:ln>
        </p:spPr>
      </p:sp>
      <p:sp>
        <p:nvSpPr>
          <p:cNvPr id="31" name="Text 29"/>
          <p:cNvSpPr/>
          <p:nvPr/>
        </p:nvSpPr>
        <p:spPr>
          <a:xfrm>
            <a:off x="9802368" y="4261104"/>
            <a:ext cx="1554480" cy="219456"/>
          </a:xfrm>
          <a:prstGeom prst="rect">
            <a:avLst/>
          </a:prstGeom>
          <a:noFill/>
          <a:ln/>
        </p:spPr>
        <p:txBody>
          <a:bodyPr wrap="square" rtlCol="0" anchor="ctr"/>
          <a:lstStyle/>
          <a:p>
            <a:pPr indent="0" marL="0">
              <a:buNone/>
            </a:pPr>
            <a:r>
              <a:rPr lang="en-US" sz="1250" b="1" dirty="0">
                <a:solidFill>
                  <a:srgbClr val="1E5A2A"/>
                </a:solidFill>
                <a:latin typeface="DM Sans" pitchFamily="34" charset="0"/>
                <a:ea typeface="DM Sans" pitchFamily="34" charset="-122"/>
                <a:cs typeface="DM Sans" pitchFamily="34" charset="-120"/>
              </a:rPr>
              <a:t>Cycle</a:t>
            </a:r>
            <a:endParaRPr lang="en-US" sz="1250" dirty="0"/>
          </a:p>
        </p:txBody>
      </p:sp>
      <p:sp>
        <p:nvSpPr>
          <p:cNvPr id="32" name="Text 30"/>
          <p:cNvSpPr/>
          <p:nvPr/>
        </p:nvSpPr>
        <p:spPr>
          <a:xfrm>
            <a:off x="9802368" y="4544568"/>
            <a:ext cx="1554480" cy="1600200"/>
          </a:xfrm>
          <a:prstGeom prst="rect">
            <a:avLst/>
          </a:prstGeom>
          <a:noFill/>
          <a:ln/>
        </p:spPr>
        <p:txBody>
          <a:bodyPr wrap="square" rtlCol="0" anchor="ctr"/>
          <a:lstStyle/>
          <a:p>
            <a:pPr indent="0" marL="0">
              <a:buNone/>
            </a:pPr>
            <a:r>
              <a:rPr lang="en-US" sz="1350" dirty="0">
                <a:solidFill>
                  <a:srgbClr val="20252B"/>
                </a:solidFill>
                <a:latin typeface="DM Sans" pitchFamily="34" charset="0"/>
                <a:ea typeface="DM Sans" pitchFamily="34" charset="-122"/>
                <a:cs typeface="DM Sans" pitchFamily="34" charset="-120"/>
              </a:rPr>
              <a:t>Carbon-free operation claim</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384048" y="182880"/>
            <a:ext cx="4389120" cy="438912"/>
          </a:xfrm>
          <a:prstGeom prst="roundRect">
            <a:avLst/>
          </a:prstGeom>
          <a:solidFill>
            <a:srgbClr val="F8F6F1"/>
          </a:solidFill>
          <a:ln w="12700">
            <a:solidFill>
              <a:srgbClr val="CFC8BA"/>
            </a:solidFill>
            <a:prstDash val="solid"/>
          </a:ln>
        </p:spPr>
      </p:sp>
      <p:sp>
        <p:nvSpPr>
          <p:cNvPr id="3" name="Text 1"/>
          <p:cNvSpPr/>
          <p:nvPr/>
        </p:nvSpPr>
        <p:spPr>
          <a:xfrm>
            <a:off x="512064" y="283464"/>
            <a:ext cx="4114800" cy="237744"/>
          </a:xfrm>
          <a:prstGeom prst="rect">
            <a:avLst/>
          </a:prstGeom>
          <a:noFill/>
          <a:ln/>
        </p:spPr>
        <p:txBody>
          <a:bodyPr wrap="square" rtlCol="0" anchor="ctr"/>
          <a:lstStyle/>
          <a:p>
            <a:pPr indent="0" marL="0">
              <a:buNone/>
            </a:pPr>
            <a:r>
              <a:rPr lang="en-US" sz="1100" b="1" dirty="0">
                <a:solidFill>
                  <a:srgbClr val="1E5A2A"/>
                </a:solidFill>
                <a:latin typeface="DM Sans" pitchFamily="34" charset="0"/>
                <a:ea typeface="DM Sans" pitchFamily="34" charset="-122"/>
                <a:cs typeface="DM Sans" pitchFamily="34" charset="-120"/>
              </a:rPr>
              <a:t>Plasmonic Hydrogen Power Generator</a:t>
            </a:r>
            <a:endParaRPr lang="en-US" sz="1100" dirty="0"/>
          </a:p>
        </p:txBody>
      </p:sp>
      <p:sp>
        <p:nvSpPr>
          <p:cNvPr id="4" name="Text 2"/>
          <p:cNvSpPr/>
          <p:nvPr/>
        </p:nvSpPr>
        <p:spPr>
          <a:xfrm>
            <a:off x="10378440" y="283464"/>
            <a:ext cx="1371600" cy="237744"/>
          </a:xfrm>
          <a:prstGeom prst="rect">
            <a:avLst/>
          </a:prstGeom>
          <a:noFill/>
          <a:ln/>
        </p:spPr>
        <p:txBody>
          <a:bodyPr wrap="square" rtlCol="0" anchor="ctr"/>
          <a:lstStyle/>
          <a:p>
            <a:pPr algn="r" indent="0" marL="0">
              <a:buNone/>
            </a:pPr>
            <a:r>
              <a:rPr lang="en-US" sz="1050" b="1" dirty="0">
                <a:solidFill>
                  <a:srgbClr val="3A4048"/>
                </a:solidFill>
                <a:latin typeface="DM Sans" pitchFamily="34" charset="0"/>
                <a:ea typeface="DM Sans" pitchFamily="34" charset="-122"/>
                <a:cs typeface="DM Sans" pitchFamily="34" charset="-120"/>
              </a:rPr>
              <a:t>Slide 05 / 06</a:t>
            </a:r>
            <a:endParaRPr lang="en-US" sz="1050" dirty="0"/>
          </a:p>
        </p:txBody>
      </p:sp>
      <p:sp>
        <p:nvSpPr>
          <p:cNvPr id="5" name="Shape 3"/>
          <p:cNvSpPr/>
          <p:nvPr/>
        </p:nvSpPr>
        <p:spPr>
          <a:xfrm>
            <a:off x="411480" y="777240"/>
            <a:ext cx="1645920" cy="384048"/>
          </a:xfrm>
          <a:prstGeom prst="roundRect">
            <a:avLst/>
          </a:prstGeom>
          <a:solidFill>
            <a:srgbClr val="E7E2D8"/>
          </a:solidFill>
          <a:ln w="12700">
            <a:solidFill>
              <a:srgbClr val="CFC8BA"/>
            </a:solidFill>
            <a:prstDash val="solid"/>
          </a:ln>
        </p:spPr>
      </p:sp>
      <p:sp>
        <p:nvSpPr>
          <p:cNvPr id="6" name="Text 4"/>
          <p:cNvSpPr/>
          <p:nvPr/>
        </p:nvSpPr>
        <p:spPr>
          <a:xfrm>
            <a:off x="484632" y="868680"/>
            <a:ext cx="14996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01 Overview</a:t>
            </a:r>
            <a:endParaRPr lang="en-US" sz="950" dirty="0"/>
          </a:p>
        </p:txBody>
      </p:sp>
      <p:sp>
        <p:nvSpPr>
          <p:cNvPr id="7" name="Shape 5"/>
          <p:cNvSpPr/>
          <p:nvPr/>
        </p:nvSpPr>
        <p:spPr>
          <a:xfrm>
            <a:off x="2167128" y="777240"/>
            <a:ext cx="1874520" cy="384048"/>
          </a:xfrm>
          <a:prstGeom prst="roundRect">
            <a:avLst/>
          </a:prstGeom>
          <a:solidFill>
            <a:srgbClr val="E7E2D8"/>
          </a:solidFill>
          <a:ln w="12700">
            <a:solidFill>
              <a:srgbClr val="CFC8BA"/>
            </a:solidFill>
            <a:prstDash val="solid"/>
          </a:ln>
        </p:spPr>
      </p:sp>
      <p:sp>
        <p:nvSpPr>
          <p:cNvPr id="8" name="Text 6"/>
          <p:cNvSpPr/>
          <p:nvPr/>
        </p:nvSpPr>
        <p:spPr>
          <a:xfrm>
            <a:off x="2240280"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02 How It Works</a:t>
            </a:r>
            <a:endParaRPr lang="en-US" sz="950" dirty="0"/>
          </a:p>
        </p:txBody>
      </p:sp>
      <p:sp>
        <p:nvSpPr>
          <p:cNvPr id="9" name="Shape 7"/>
          <p:cNvSpPr/>
          <p:nvPr/>
        </p:nvSpPr>
        <p:spPr>
          <a:xfrm>
            <a:off x="4151376" y="777240"/>
            <a:ext cx="1783080" cy="384048"/>
          </a:xfrm>
          <a:prstGeom prst="roundRect">
            <a:avLst/>
          </a:prstGeom>
          <a:solidFill>
            <a:srgbClr val="E7E2D8"/>
          </a:solidFill>
          <a:ln w="12700">
            <a:solidFill>
              <a:srgbClr val="CFC8BA"/>
            </a:solidFill>
            <a:prstDash val="solid"/>
          </a:ln>
        </p:spPr>
      </p:sp>
      <p:sp>
        <p:nvSpPr>
          <p:cNvPr id="10" name="Text 8"/>
          <p:cNvSpPr/>
          <p:nvPr/>
        </p:nvSpPr>
        <p:spPr>
          <a:xfrm>
            <a:off x="4224528"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03 Advantages I</a:t>
            </a:r>
            <a:endParaRPr lang="en-US" sz="950" dirty="0"/>
          </a:p>
        </p:txBody>
      </p:sp>
      <p:sp>
        <p:nvSpPr>
          <p:cNvPr id="11" name="Shape 9"/>
          <p:cNvSpPr/>
          <p:nvPr/>
        </p:nvSpPr>
        <p:spPr>
          <a:xfrm>
            <a:off x="6044184" y="777240"/>
            <a:ext cx="1874520" cy="384048"/>
          </a:xfrm>
          <a:prstGeom prst="roundRect">
            <a:avLst/>
          </a:prstGeom>
          <a:solidFill>
            <a:srgbClr val="E7E2D8"/>
          </a:solidFill>
          <a:ln w="12700">
            <a:solidFill>
              <a:srgbClr val="CFC8BA"/>
            </a:solidFill>
            <a:prstDash val="solid"/>
          </a:ln>
        </p:spPr>
      </p:sp>
      <p:sp>
        <p:nvSpPr>
          <p:cNvPr id="12" name="Text 10"/>
          <p:cNvSpPr/>
          <p:nvPr/>
        </p:nvSpPr>
        <p:spPr>
          <a:xfrm>
            <a:off x="6117336"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04 Advantages II</a:t>
            </a:r>
            <a:endParaRPr lang="en-US" sz="950" dirty="0"/>
          </a:p>
        </p:txBody>
      </p:sp>
      <p:sp>
        <p:nvSpPr>
          <p:cNvPr id="13" name="Shape 11"/>
          <p:cNvSpPr/>
          <p:nvPr/>
        </p:nvSpPr>
        <p:spPr>
          <a:xfrm>
            <a:off x="8028432" y="777240"/>
            <a:ext cx="1783080" cy="384048"/>
          </a:xfrm>
          <a:prstGeom prst="roundRect">
            <a:avLst/>
          </a:prstGeom>
          <a:solidFill>
            <a:srgbClr val="C7D8BE"/>
          </a:solidFill>
          <a:ln w="12700">
            <a:solidFill>
              <a:srgbClr val="CFC8BA"/>
            </a:solidFill>
            <a:prstDash val="solid"/>
          </a:ln>
        </p:spPr>
      </p:sp>
      <p:sp>
        <p:nvSpPr>
          <p:cNvPr id="14" name="Text 12"/>
          <p:cNvSpPr/>
          <p:nvPr/>
        </p:nvSpPr>
        <p:spPr>
          <a:xfrm>
            <a:off x="8101584" y="868680"/>
            <a:ext cx="1636776" cy="201168"/>
          </a:xfrm>
          <a:prstGeom prst="rect">
            <a:avLst/>
          </a:prstGeom>
          <a:noFill/>
          <a:ln/>
        </p:spPr>
        <p:txBody>
          <a:bodyPr wrap="square" rtlCol="0" anchor="ctr"/>
          <a:lstStyle/>
          <a:p>
            <a:pPr algn="ctr" indent="0" marL="0">
              <a:buNone/>
            </a:pPr>
            <a:r>
              <a:rPr lang="en-US" sz="950" b="1" dirty="0">
                <a:solidFill>
                  <a:srgbClr val="1E5A2A"/>
                </a:solidFill>
                <a:latin typeface="DM Sans" pitchFamily="34" charset="0"/>
                <a:ea typeface="DM Sans" pitchFamily="34" charset="-122"/>
                <a:cs typeface="DM Sans" pitchFamily="34" charset="-120"/>
              </a:rPr>
              <a:t>05 Why It Matters</a:t>
            </a:r>
            <a:endParaRPr lang="en-US" sz="950" dirty="0"/>
          </a:p>
        </p:txBody>
      </p:sp>
      <p:sp>
        <p:nvSpPr>
          <p:cNvPr id="15" name="Shape 13"/>
          <p:cNvSpPr/>
          <p:nvPr/>
        </p:nvSpPr>
        <p:spPr>
          <a:xfrm>
            <a:off x="9921240" y="777240"/>
            <a:ext cx="1737360" cy="384048"/>
          </a:xfrm>
          <a:prstGeom prst="roundRect">
            <a:avLst/>
          </a:prstGeom>
          <a:solidFill>
            <a:srgbClr val="E7E2D8"/>
          </a:solidFill>
          <a:ln w="12700">
            <a:solidFill>
              <a:srgbClr val="CFC8BA"/>
            </a:solidFill>
            <a:prstDash val="solid"/>
          </a:ln>
        </p:spPr>
      </p:sp>
      <p:sp>
        <p:nvSpPr>
          <p:cNvPr id="16" name="Text 14"/>
          <p:cNvSpPr/>
          <p:nvPr/>
        </p:nvSpPr>
        <p:spPr>
          <a:xfrm>
            <a:off x="9994392" y="868680"/>
            <a:ext cx="159105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06 Future Vision</a:t>
            </a:r>
            <a:endParaRPr lang="en-US" sz="950" dirty="0"/>
          </a:p>
        </p:txBody>
      </p:sp>
      <p:sp>
        <p:nvSpPr>
          <p:cNvPr id="17" name="Shape 15"/>
          <p:cNvSpPr/>
          <p:nvPr/>
        </p:nvSpPr>
        <p:spPr>
          <a:xfrm>
            <a:off x="411480" y="1307592"/>
            <a:ext cx="6812280" cy="5212080"/>
          </a:xfrm>
          <a:prstGeom prst="roundRect">
            <a:avLst/>
          </a:prstGeom>
          <a:solidFill>
            <a:srgbClr val="FFFFFF"/>
          </a:solidFill>
          <a:ln w="12700">
            <a:solidFill>
              <a:srgbClr val="CFC8BA"/>
            </a:solidFill>
            <a:prstDash val="solid"/>
          </a:ln>
        </p:spPr>
      </p:sp>
      <p:sp>
        <p:nvSpPr>
          <p:cNvPr id="18" name="Shape 16"/>
          <p:cNvSpPr/>
          <p:nvPr/>
        </p:nvSpPr>
        <p:spPr>
          <a:xfrm>
            <a:off x="7360920" y="1307592"/>
            <a:ext cx="4416552" cy="5212080"/>
          </a:xfrm>
          <a:prstGeom prst="roundRect">
            <a:avLst/>
          </a:prstGeom>
          <a:solidFill>
            <a:srgbClr val="FFFFFF"/>
          </a:solidFill>
          <a:ln w="12700">
            <a:solidFill>
              <a:srgbClr val="CFC8BA"/>
            </a:solidFill>
            <a:prstDash val="solid"/>
          </a:ln>
        </p:spPr>
      </p:sp>
      <p:sp>
        <p:nvSpPr>
          <p:cNvPr id="19" name="Text 17"/>
          <p:cNvSpPr/>
          <p:nvPr/>
        </p:nvSpPr>
        <p:spPr>
          <a:xfrm>
            <a:off x="731520" y="1627632"/>
            <a:ext cx="6217920" cy="566928"/>
          </a:xfrm>
          <a:prstGeom prst="rect">
            <a:avLst/>
          </a:prstGeom>
          <a:noFill/>
          <a:ln/>
        </p:spPr>
        <p:txBody>
          <a:bodyPr wrap="square" rtlCol="0" anchor="ctr"/>
          <a:lstStyle/>
          <a:p>
            <a:pPr indent="0" marL="0">
              <a:buNone/>
            </a:pPr>
            <a:r>
              <a:rPr lang="en-US" sz="4200" dirty="0">
                <a:solidFill>
                  <a:srgbClr val="1E5A2A"/>
                </a:solidFill>
                <a:latin typeface="The Seasons" pitchFamily="34" charset="0"/>
                <a:ea typeface="The Seasons" pitchFamily="34" charset="-122"/>
                <a:cs typeface="The Seasons" pitchFamily="34" charset="-120"/>
              </a:rPr>
              <a:t>Why It's a Game-Changer</a:t>
            </a:r>
            <a:endParaRPr lang="en-US" sz="4200" dirty="0"/>
          </a:p>
        </p:txBody>
      </p:sp>
      <p:sp>
        <p:nvSpPr>
          <p:cNvPr id="20" name="Text 18"/>
          <p:cNvSpPr/>
          <p:nvPr/>
        </p:nvSpPr>
        <p:spPr>
          <a:xfrm>
            <a:off x="749808" y="2231136"/>
            <a:ext cx="6272784" cy="2743200"/>
          </a:xfrm>
          <a:prstGeom prst="rect">
            <a:avLst/>
          </a:prstGeom>
          <a:noFill/>
          <a:ln/>
        </p:spPr>
        <p:txBody>
          <a:bodyPr wrap="square" rtlCol="0" anchor="ctr"/>
          <a:lstStyle/>
          <a:p>
            <a:pPr indent="0" marL="0">
              <a:buNone/>
            </a:pPr>
            <a:r>
              <a:rPr lang="en-US" sz="1630" dirty="0">
                <a:solidFill>
                  <a:srgbClr val="20252B"/>
                </a:solidFill>
                <a:latin typeface="DM Sans" pitchFamily="34" charset="0"/>
                <a:ea typeface="DM Sans" pitchFamily="34" charset="-122"/>
                <a:cs typeface="DM Sans" pitchFamily="34" charset="-120"/>
              </a:rPr>
              <a:t>Imagine a power system that draws energy from sunlight, stores it as clean hydrogen fuel, and delivers reliable electricity anytime without pollution or carbon emissions.</a:t>
            </a:r>
            <a:endParaRPr lang="en-US" sz="1630" dirty="0"/>
          </a:p>
          <a:p>
            <a:pPr indent="0" marL="0">
              <a:buNone/>
            </a:pPr>
            <a:endParaRPr lang="en-US" sz="1630" dirty="0"/>
          </a:p>
          <a:p>
            <a:pPr indent="0" marL="0">
              <a:buNone/>
            </a:pPr>
            <a:r>
              <a:rPr lang="en-US" sz="1630" dirty="0">
                <a:solidFill>
                  <a:srgbClr val="20252B"/>
                </a:solidFill>
                <a:latin typeface="DM Sans" pitchFamily="34" charset="0"/>
                <a:ea typeface="DM Sans" pitchFamily="34" charset="-122"/>
                <a:cs typeface="DM Sans" pitchFamily="34" charset="-120"/>
              </a:rPr>
              <a:t>Unlike conventional renewables that depend on weather, this innovation stores clean energy for use anytime, ensuring 24/7 availability. It provides a flexible foundation for homes, industries, and national grids.</a:t>
            </a:r>
            <a:endParaRPr lang="en-US" sz="1630" dirty="0"/>
          </a:p>
        </p:txBody>
      </p:sp>
      <p:sp>
        <p:nvSpPr>
          <p:cNvPr id="21" name="Shape 19"/>
          <p:cNvSpPr/>
          <p:nvPr/>
        </p:nvSpPr>
        <p:spPr>
          <a:xfrm>
            <a:off x="7635240" y="1737360"/>
            <a:ext cx="3867912" cy="868680"/>
          </a:xfrm>
          <a:prstGeom prst="roundRect">
            <a:avLst/>
          </a:prstGeom>
          <a:solidFill>
            <a:srgbClr val="FFFFFF"/>
          </a:solidFill>
          <a:ln w="12700">
            <a:solidFill>
              <a:srgbClr val="CFC8BA"/>
            </a:solidFill>
            <a:prstDash val="solid"/>
          </a:ln>
        </p:spPr>
      </p:sp>
      <p:sp>
        <p:nvSpPr>
          <p:cNvPr id="22" name="Text 20"/>
          <p:cNvSpPr/>
          <p:nvPr/>
        </p:nvSpPr>
        <p:spPr>
          <a:xfrm>
            <a:off x="7799832" y="1883664"/>
            <a:ext cx="3566160" cy="603504"/>
          </a:xfrm>
          <a:prstGeom prst="rect">
            <a:avLst/>
          </a:prstGeom>
          <a:noFill/>
          <a:ln/>
        </p:spPr>
        <p:txBody>
          <a:bodyPr wrap="square" rtlCol="0" anchor="ctr"/>
          <a:lstStyle/>
          <a:p>
            <a:pPr indent="0" marL="0">
              <a:buNone/>
            </a:pPr>
            <a:r>
              <a:rPr lang="en-US" sz="1270" dirty="0">
                <a:solidFill>
                  <a:srgbClr val="20252B"/>
                </a:solidFill>
                <a:latin typeface="DM Sans" pitchFamily="34" charset="0"/>
                <a:ea typeface="DM Sans" pitchFamily="34" charset="-122"/>
                <a:cs typeface="DM Sans" pitchFamily="34" charset="-120"/>
              </a:rPr>
              <a:t>Zero Emissions: Only water vapor is released.</a:t>
            </a:r>
            <a:endParaRPr lang="en-US" sz="1270" dirty="0"/>
          </a:p>
        </p:txBody>
      </p:sp>
      <p:sp>
        <p:nvSpPr>
          <p:cNvPr id="23" name="Shape 21"/>
          <p:cNvSpPr/>
          <p:nvPr/>
        </p:nvSpPr>
        <p:spPr>
          <a:xfrm>
            <a:off x="7635240" y="2688336"/>
            <a:ext cx="3867912" cy="868680"/>
          </a:xfrm>
          <a:prstGeom prst="roundRect">
            <a:avLst/>
          </a:prstGeom>
          <a:solidFill>
            <a:srgbClr val="FFFFFF"/>
          </a:solidFill>
          <a:ln w="12700">
            <a:solidFill>
              <a:srgbClr val="CFC8BA"/>
            </a:solidFill>
            <a:prstDash val="solid"/>
          </a:ln>
        </p:spPr>
      </p:sp>
      <p:sp>
        <p:nvSpPr>
          <p:cNvPr id="24" name="Text 22"/>
          <p:cNvSpPr/>
          <p:nvPr/>
        </p:nvSpPr>
        <p:spPr>
          <a:xfrm>
            <a:off x="7799832" y="2834640"/>
            <a:ext cx="3566160" cy="603504"/>
          </a:xfrm>
          <a:prstGeom prst="rect">
            <a:avLst/>
          </a:prstGeom>
          <a:noFill/>
          <a:ln/>
        </p:spPr>
        <p:txBody>
          <a:bodyPr wrap="square" rtlCol="0" anchor="ctr"/>
          <a:lstStyle/>
          <a:p>
            <a:pPr indent="0" marL="0">
              <a:buNone/>
            </a:pPr>
            <a:r>
              <a:rPr lang="en-US" sz="1270" dirty="0">
                <a:solidFill>
                  <a:srgbClr val="20252B"/>
                </a:solidFill>
                <a:latin typeface="DM Sans" pitchFamily="34" charset="0"/>
                <a:ea typeface="DM Sans" pitchFamily="34" charset="-122"/>
                <a:cs typeface="DM Sans" pitchFamily="34" charset="-120"/>
              </a:rPr>
              <a:t>24/7 Power: Sunlight stored as hydrogen for round-the-clock operation.</a:t>
            </a:r>
            <a:endParaRPr lang="en-US" sz="1270" dirty="0"/>
          </a:p>
        </p:txBody>
      </p:sp>
      <p:sp>
        <p:nvSpPr>
          <p:cNvPr id="25" name="Shape 23"/>
          <p:cNvSpPr/>
          <p:nvPr/>
        </p:nvSpPr>
        <p:spPr>
          <a:xfrm>
            <a:off x="7635240" y="3639312"/>
            <a:ext cx="3867912" cy="868680"/>
          </a:xfrm>
          <a:prstGeom prst="roundRect">
            <a:avLst/>
          </a:prstGeom>
          <a:solidFill>
            <a:srgbClr val="FFFFFF"/>
          </a:solidFill>
          <a:ln w="12700">
            <a:solidFill>
              <a:srgbClr val="CFC8BA"/>
            </a:solidFill>
            <a:prstDash val="solid"/>
          </a:ln>
        </p:spPr>
      </p:sp>
      <p:sp>
        <p:nvSpPr>
          <p:cNvPr id="26" name="Text 24"/>
          <p:cNvSpPr/>
          <p:nvPr/>
        </p:nvSpPr>
        <p:spPr>
          <a:xfrm>
            <a:off x="7799832" y="3785616"/>
            <a:ext cx="3566160" cy="603504"/>
          </a:xfrm>
          <a:prstGeom prst="rect">
            <a:avLst/>
          </a:prstGeom>
          <a:noFill/>
          <a:ln/>
        </p:spPr>
        <p:txBody>
          <a:bodyPr wrap="square" rtlCol="0" anchor="ctr"/>
          <a:lstStyle/>
          <a:p>
            <a:pPr indent="0" marL="0">
              <a:buNone/>
            </a:pPr>
            <a:r>
              <a:rPr lang="en-US" sz="1270" dirty="0">
                <a:solidFill>
                  <a:srgbClr val="20252B"/>
                </a:solidFill>
                <a:latin typeface="DM Sans" pitchFamily="34" charset="0"/>
                <a:ea typeface="DM Sans" pitchFamily="34" charset="-122"/>
                <a:cs typeface="DM Sans" pitchFamily="34" charset="-120"/>
              </a:rPr>
              <a:t>Efficient and Reliable: Converts more energy from light than traditional solar systems.</a:t>
            </a:r>
            <a:endParaRPr lang="en-US" sz="1270" dirty="0"/>
          </a:p>
        </p:txBody>
      </p:sp>
      <p:sp>
        <p:nvSpPr>
          <p:cNvPr id="27" name="Shape 25"/>
          <p:cNvSpPr/>
          <p:nvPr/>
        </p:nvSpPr>
        <p:spPr>
          <a:xfrm>
            <a:off x="7635240" y="4590288"/>
            <a:ext cx="3867912" cy="868680"/>
          </a:xfrm>
          <a:prstGeom prst="roundRect">
            <a:avLst/>
          </a:prstGeom>
          <a:solidFill>
            <a:srgbClr val="FFFFFF"/>
          </a:solidFill>
          <a:ln w="12700">
            <a:solidFill>
              <a:srgbClr val="CFC8BA"/>
            </a:solidFill>
            <a:prstDash val="solid"/>
          </a:ln>
        </p:spPr>
      </p:sp>
      <p:sp>
        <p:nvSpPr>
          <p:cNvPr id="28" name="Text 26"/>
          <p:cNvSpPr/>
          <p:nvPr/>
        </p:nvSpPr>
        <p:spPr>
          <a:xfrm>
            <a:off x="7799832" y="4736592"/>
            <a:ext cx="3566160" cy="603504"/>
          </a:xfrm>
          <a:prstGeom prst="rect">
            <a:avLst/>
          </a:prstGeom>
          <a:noFill/>
          <a:ln/>
        </p:spPr>
        <p:txBody>
          <a:bodyPr wrap="square" rtlCol="0" anchor="ctr"/>
          <a:lstStyle/>
          <a:p>
            <a:pPr indent="0" marL="0">
              <a:buNone/>
            </a:pPr>
            <a:r>
              <a:rPr lang="en-US" sz="1270" dirty="0">
                <a:solidFill>
                  <a:srgbClr val="20252B"/>
                </a:solidFill>
                <a:latin typeface="DM Sans" pitchFamily="34" charset="0"/>
                <a:ea typeface="DM Sans" pitchFamily="34" charset="-122"/>
                <a:cs typeface="DM Sans" pitchFamily="34" charset="-120"/>
              </a:rPr>
              <a:t>Built to Last: Durable components minimize maintenance and downtime.</a:t>
            </a:r>
            <a:endParaRPr lang="en-US" sz="1270" dirty="0"/>
          </a:p>
        </p:txBody>
      </p:sp>
      <p:sp>
        <p:nvSpPr>
          <p:cNvPr id="29" name="Shape 27"/>
          <p:cNvSpPr/>
          <p:nvPr/>
        </p:nvSpPr>
        <p:spPr>
          <a:xfrm>
            <a:off x="7635240" y="5541264"/>
            <a:ext cx="3867912" cy="868680"/>
          </a:xfrm>
          <a:prstGeom prst="roundRect">
            <a:avLst/>
          </a:prstGeom>
          <a:solidFill>
            <a:srgbClr val="FFFFFF"/>
          </a:solidFill>
          <a:ln w="12700">
            <a:solidFill>
              <a:srgbClr val="CFC8BA"/>
            </a:solidFill>
            <a:prstDash val="solid"/>
          </a:ln>
        </p:spPr>
      </p:sp>
      <p:sp>
        <p:nvSpPr>
          <p:cNvPr id="30" name="Text 28"/>
          <p:cNvSpPr/>
          <p:nvPr/>
        </p:nvSpPr>
        <p:spPr>
          <a:xfrm>
            <a:off x="7799832" y="5687568"/>
            <a:ext cx="3566160" cy="603504"/>
          </a:xfrm>
          <a:prstGeom prst="rect">
            <a:avLst/>
          </a:prstGeom>
          <a:noFill/>
          <a:ln/>
        </p:spPr>
        <p:txBody>
          <a:bodyPr wrap="square" rtlCol="0" anchor="ctr"/>
          <a:lstStyle/>
          <a:p>
            <a:pPr indent="0" marL="0">
              <a:buNone/>
            </a:pPr>
            <a:r>
              <a:rPr lang="en-US" sz="1270" dirty="0">
                <a:solidFill>
                  <a:srgbClr val="20252B"/>
                </a:solidFill>
                <a:latin typeface="DM Sans" pitchFamily="34" charset="0"/>
                <a:ea typeface="DM Sans" pitchFamily="34" charset="-122"/>
                <a:cs typeface="DM Sans" pitchFamily="34" charset="-120"/>
              </a:rPr>
              <a:t>Energy Independence: Enables nations and communities to produce clean power locally.</a:t>
            </a:r>
            <a:endParaRPr lang="en-US" sz="12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384048" y="182880"/>
            <a:ext cx="4389120" cy="438912"/>
          </a:xfrm>
          <a:prstGeom prst="roundRect">
            <a:avLst/>
          </a:prstGeom>
          <a:solidFill>
            <a:srgbClr val="F8F6F1"/>
          </a:solidFill>
          <a:ln w="12700">
            <a:solidFill>
              <a:srgbClr val="CFC8BA"/>
            </a:solidFill>
            <a:prstDash val="solid"/>
          </a:ln>
        </p:spPr>
      </p:sp>
      <p:sp>
        <p:nvSpPr>
          <p:cNvPr id="3" name="Text 1"/>
          <p:cNvSpPr/>
          <p:nvPr/>
        </p:nvSpPr>
        <p:spPr>
          <a:xfrm>
            <a:off x="512064" y="283464"/>
            <a:ext cx="4114800" cy="237744"/>
          </a:xfrm>
          <a:prstGeom prst="rect">
            <a:avLst/>
          </a:prstGeom>
          <a:noFill/>
          <a:ln/>
        </p:spPr>
        <p:txBody>
          <a:bodyPr wrap="square" rtlCol="0" anchor="ctr"/>
          <a:lstStyle/>
          <a:p>
            <a:pPr indent="0" marL="0">
              <a:buNone/>
            </a:pPr>
            <a:r>
              <a:rPr lang="en-US" sz="1100" b="1" dirty="0">
                <a:solidFill>
                  <a:srgbClr val="1E5A2A"/>
                </a:solidFill>
                <a:latin typeface="DM Sans" pitchFamily="34" charset="0"/>
                <a:ea typeface="DM Sans" pitchFamily="34" charset="-122"/>
                <a:cs typeface="DM Sans" pitchFamily="34" charset="-120"/>
              </a:rPr>
              <a:t>Plasmonic Hydrogen Power Generator</a:t>
            </a:r>
            <a:endParaRPr lang="en-US" sz="1100" dirty="0"/>
          </a:p>
        </p:txBody>
      </p:sp>
      <p:sp>
        <p:nvSpPr>
          <p:cNvPr id="4" name="Text 2"/>
          <p:cNvSpPr/>
          <p:nvPr/>
        </p:nvSpPr>
        <p:spPr>
          <a:xfrm>
            <a:off x="10378440" y="283464"/>
            <a:ext cx="1371600" cy="237744"/>
          </a:xfrm>
          <a:prstGeom prst="rect">
            <a:avLst/>
          </a:prstGeom>
          <a:noFill/>
          <a:ln/>
        </p:spPr>
        <p:txBody>
          <a:bodyPr wrap="square" rtlCol="0" anchor="ctr"/>
          <a:lstStyle/>
          <a:p>
            <a:pPr algn="r" indent="0" marL="0">
              <a:buNone/>
            </a:pPr>
            <a:r>
              <a:rPr lang="en-US" sz="1050" b="1" dirty="0">
                <a:solidFill>
                  <a:srgbClr val="3A4048"/>
                </a:solidFill>
                <a:latin typeface="DM Sans" pitchFamily="34" charset="0"/>
                <a:ea typeface="DM Sans" pitchFamily="34" charset="-122"/>
                <a:cs typeface="DM Sans" pitchFamily="34" charset="-120"/>
              </a:rPr>
              <a:t>Slide 06 / 06</a:t>
            </a:r>
            <a:endParaRPr lang="en-US" sz="1050" dirty="0"/>
          </a:p>
        </p:txBody>
      </p:sp>
      <p:sp>
        <p:nvSpPr>
          <p:cNvPr id="5" name="Shape 3"/>
          <p:cNvSpPr/>
          <p:nvPr/>
        </p:nvSpPr>
        <p:spPr>
          <a:xfrm>
            <a:off x="411480" y="777240"/>
            <a:ext cx="1645920" cy="384048"/>
          </a:xfrm>
          <a:prstGeom prst="roundRect">
            <a:avLst/>
          </a:prstGeom>
          <a:solidFill>
            <a:srgbClr val="E7E2D8"/>
          </a:solidFill>
          <a:ln w="12700">
            <a:solidFill>
              <a:srgbClr val="CFC8BA"/>
            </a:solidFill>
            <a:prstDash val="solid"/>
          </a:ln>
        </p:spPr>
      </p:sp>
      <p:sp>
        <p:nvSpPr>
          <p:cNvPr id="6" name="Text 4"/>
          <p:cNvSpPr/>
          <p:nvPr/>
        </p:nvSpPr>
        <p:spPr>
          <a:xfrm>
            <a:off x="484632" y="868680"/>
            <a:ext cx="14996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01 Overview</a:t>
            </a:r>
            <a:endParaRPr lang="en-US" sz="950" dirty="0"/>
          </a:p>
        </p:txBody>
      </p:sp>
      <p:sp>
        <p:nvSpPr>
          <p:cNvPr id="7" name="Shape 5"/>
          <p:cNvSpPr/>
          <p:nvPr/>
        </p:nvSpPr>
        <p:spPr>
          <a:xfrm>
            <a:off x="2167128" y="777240"/>
            <a:ext cx="1874520" cy="384048"/>
          </a:xfrm>
          <a:prstGeom prst="roundRect">
            <a:avLst/>
          </a:prstGeom>
          <a:solidFill>
            <a:srgbClr val="E7E2D8"/>
          </a:solidFill>
          <a:ln w="12700">
            <a:solidFill>
              <a:srgbClr val="CFC8BA"/>
            </a:solidFill>
            <a:prstDash val="solid"/>
          </a:ln>
        </p:spPr>
      </p:sp>
      <p:sp>
        <p:nvSpPr>
          <p:cNvPr id="8" name="Text 6"/>
          <p:cNvSpPr/>
          <p:nvPr/>
        </p:nvSpPr>
        <p:spPr>
          <a:xfrm>
            <a:off x="2240280"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02 How It Works</a:t>
            </a:r>
            <a:endParaRPr lang="en-US" sz="950" dirty="0"/>
          </a:p>
        </p:txBody>
      </p:sp>
      <p:sp>
        <p:nvSpPr>
          <p:cNvPr id="9" name="Shape 7"/>
          <p:cNvSpPr/>
          <p:nvPr/>
        </p:nvSpPr>
        <p:spPr>
          <a:xfrm>
            <a:off x="4151376" y="777240"/>
            <a:ext cx="1783080" cy="384048"/>
          </a:xfrm>
          <a:prstGeom prst="roundRect">
            <a:avLst/>
          </a:prstGeom>
          <a:solidFill>
            <a:srgbClr val="E7E2D8"/>
          </a:solidFill>
          <a:ln w="12700">
            <a:solidFill>
              <a:srgbClr val="CFC8BA"/>
            </a:solidFill>
            <a:prstDash val="solid"/>
          </a:ln>
        </p:spPr>
      </p:sp>
      <p:sp>
        <p:nvSpPr>
          <p:cNvPr id="10" name="Text 8"/>
          <p:cNvSpPr/>
          <p:nvPr/>
        </p:nvSpPr>
        <p:spPr>
          <a:xfrm>
            <a:off x="4224528"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03 Advantages I</a:t>
            </a:r>
            <a:endParaRPr lang="en-US" sz="950" dirty="0"/>
          </a:p>
        </p:txBody>
      </p:sp>
      <p:sp>
        <p:nvSpPr>
          <p:cNvPr id="11" name="Shape 9"/>
          <p:cNvSpPr/>
          <p:nvPr/>
        </p:nvSpPr>
        <p:spPr>
          <a:xfrm>
            <a:off x="6044184" y="777240"/>
            <a:ext cx="1874520" cy="384048"/>
          </a:xfrm>
          <a:prstGeom prst="roundRect">
            <a:avLst/>
          </a:prstGeom>
          <a:solidFill>
            <a:srgbClr val="E7E2D8"/>
          </a:solidFill>
          <a:ln w="12700">
            <a:solidFill>
              <a:srgbClr val="CFC8BA"/>
            </a:solidFill>
            <a:prstDash val="solid"/>
          </a:ln>
        </p:spPr>
      </p:sp>
      <p:sp>
        <p:nvSpPr>
          <p:cNvPr id="12" name="Text 10"/>
          <p:cNvSpPr/>
          <p:nvPr/>
        </p:nvSpPr>
        <p:spPr>
          <a:xfrm>
            <a:off x="6117336" y="868680"/>
            <a:ext cx="172821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04 Advantages II</a:t>
            </a:r>
            <a:endParaRPr lang="en-US" sz="950" dirty="0"/>
          </a:p>
        </p:txBody>
      </p:sp>
      <p:sp>
        <p:nvSpPr>
          <p:cNvPr id="13" name="Shape 11"/>
          <p:cNvSpPr/>
          <p:nvPr/>
        </p:nvSpPr>
        <p:spPr>
          <a:xfrm>
            <a:off x="8028432" y="777240"/>
            <a:ext cx="1783080" cy="384048"/>
          </a:xfrm>
          <a:prstGeom prst="roundRect">
            <a:avLst/>
          </a:prstGeom>
          <a:solidFill>
            <a:srgbClr val="E7E2D8"/>
          </a:solidFill>
          <a:ln w="12700">
            <a:solidFill>
              <a:srgbClr val="CFC8BA"/>
            </a:solidFill>
            <a:prstDash val="solid"/>
          </a:ln>
        </p:spPr>
      </p:sp>
      <p:sp>
        <p:nvSpPr>
          <p:cNvPr id="14" name="Text 12"/>
          <p:cNvSpPr/>
          <p:nvPr/>
        </p:nvSpPr>
        <p:spPr>
          <a:xfrm>
            <a:off x="8101584" y="868680"/>
            <a:ext cx="1636776" cy="201168"/>
          </a:xfrm>
          <a:prstGeom prst="rect">
            <a:avLst/>
          </a:prstGeom>
          <a:noFill/>
          <a:ln/>
        </p:spPr>
        <p:txBody>
          <a:bodyPr wrap="square" rtlCol="0" anchor="ctr"/>
          <a:lstStyle/>
          <a:p>
            <a:pPr algn="ctr" indent="0" marL="0">
              <a:buNone/>
            </a:pPr>
            <a:r>
              <a:rPr lang="en-US" sz="950" dirty="0">
                <a:solidFill>
                  <a:srgbClr val="20252B"/>
                </a:solidFill>
                <a:latin typeface="DM Sans" pitchFamily="34" charset="0"/>
                <a:ea typeface="DM Sans" pitchFamily="34" charset="-122"/>
                <a:cs typeface="DM Sans" pitchFamily="34" charset="-120"/>
              </a:rPr>
              <a:t>05 Why It Matters</a:t>
            </a:r>
            <a:endParaRPr lang="en-US" sz="950" dirty="0"/>
          </a:p>
        </p:txBody>
      </p:sp>
      <p:sp>
        <p:nvSpPr>
          <p:cNvPr id="15" name="Shape 13"/>
          <p:cNvSpPr/>
          <p:nvPr/>
        </p:nvSpPr>
        <p:spPr>
          <a:xfrm>
            <a:off x="9921240" y="777240"/>
            <a:ext cx="1737360" cy="384048"/>
          </a:xfrm>
          <a:prstGeom prst="roundRect">
            <a:avLst/>
          </a:prstGeom>
          <a:solidFill>
            <a:srgbClr val="C7D8BE"/>
          </a:solidFill>
          <a:ln w="12700">
            <a:solidFill>
              <a:srgbClr val="CFC8BA"/>
            </a:solidFill>
            <a:prstDash val="solid"/>
          </a:ln>
        </p:spPr>
      </p:sp>
      <p:sp>
        <p:nvSpPr>
          <p:cNvPr id="16" name="Text 14"/>
          <p:cNvSpPr/>
          <p:nvPr/>
        </p:nvSpPr>
        <p:spPr>
          <a:xfrm>
            <a:off x="9994392" y="868680"/>
            <a:ext cx="1591056" cy="201168"/>
          </a:xfrm>
          <a:prstGeom prst="rect">
            <a:avLst/>
          </a:prstGeom>
          <a:noFill/>
          <a:ln/>
        </p:spPr>
        <p:txBody>
          <a:bodyPr wrap="square" rtlCol="0" anchor="ctr"/>
          <a:lstStyle/>
          <a:p>
            <a:pPr algn="ctr" indent="0" marL="0">
              <a:buNone/>
            </a:pPr>
            <a:r>
              <a:rPr lang="en-US" sz="950" b="1" dirty="0">
                <a:solidFill>
                  <a:srgbClr val="1E5A2A"/>
                </a:solidFill>
                <a:latin typeface="DM Sans" pitchFamily="34" charset="0"/>
                <a:ea typeface="DM Sans" pitchFamily="34" charset="-122"/>
                <a:cs typeface="DM Sans" pitchFamily="34" charset="-120"/>
              </a:rPr>
              <a:t>06 Future Vision</a:t>
            </a:r>
            <a:endParaRPr lang="en-US" sz="950" dirty="0"/>
          </a:p>
        </p:txBody>
      </p:sp>
      <p:sp>
        <p:nvSpPr>
          <p:cNvPr id="17" name="Shape 15"/>
          <p:cNvSpPr/>
          <p:nvPr/>
        </p:nvSpPr>
        <p:spPr>
          <a:xfrm>
            <a:off x="411480" y="1307592"/>
            <a:ext cx="6812280" cy="5212080"/>
          </a:xfrm>
          <a:prstGeom prst="roundRect">
            <a:avLst/>
          </a:prstGeom>
          <a:solidFill>
            <a:srgbClr val="FFFFFF"/>
          </a:solidFill>
          <a:ln w="12700">
            <a:solidFill>
              <a:srgbClr val="CFC8BA"/>
            </a:solidFill>
            <a:prstDash val="solid"/>
          </a:ln>
        </p:spPr>
      </p:sp>
      <p:sp>
        <p:nvSpPr>
          <p:cNvPr id="18" name="Shape 16"/>
          <p:cNvSpPr/>
          <p:nvPr/>
        </p:nvSpPr>
        <p:spPr>
          <a:xfrm>
            <a:off x="7360920" y="1307592"/>
            <a:ext cx="4416552" cy="5212080"/>
          </a:xfrm>
          <a:prstGeom prst="roundRect">
            <a:avLst/>
          </a:prstGeom>
          <a:solidFill>
            <a:srgbClr val="FFFFFF"/>
          </a:solidFill>
          <a:ln w="12700">
            <a:solidFill>
              <a:srgbClr val="CFC8BA"/>
            </a:solidFill>
            <a:prstDash val="solid"/>
          </a:ln>
        </p:spPr>
      </p:sp>
      <p:sp>
        <p:nvSpPr>
          <p:cNvPr id="19" name="Text 17"/>
          <p:cNvSpPr/>
          <p:nvPr/>
        </p:nvSpPr>
        <p:spPr>
          <a:xfrm>
            <a:off x="731520" y="1627632"/>
            <a:ext cx="6217920" cy="566928"/>
          </a:xfrm>
          <a:prstGeom prst="rect">
            <a:avLst/>
          </a:prstGeom>
          <a:noFill/>
          <a:ln/>
        </p:spPr>
        <p:txBody>
          <a:bodyPr wrap="square" rtlCol="0" anchor="ctr"/>
          <a:lstStyle/>
          <a:p>
            <a:pPr indent="0" marL="0">
              <a:buNone/>
            </a:pPr>
            <a:r>
              <a:rPr lang="en-US" sz="4200" dirty="0">
                <a:solidFill>
                  <a:srgbClr val="1E5A2A"/>
                </a:solidFill>
                <a:latin typeface="The Seasons" pitchFamily="34" charset="0"/>
                <a:ea typeface="The Seasons" pitchFamily="34" charset="-122"/>
                <a:cs typeface="The Seasons" pitchFamily="34" charset="-120"/>
              </a:rPr>
              <a:t>A Vision for the Future</a:t>
            </a:r>
            <a:endParaRPr lang="en-US" sz="4200" dirty="0"/>
          </a:p>
        </p:txBody>
      </p:sp>
      <p:sp>
        <p:nvSpPr>
          <p:cNvPr id="20" name="Text 18"/>
          <p:cNvSpPr/>
          <p:nvPr/>
        </p:nvSpPr>
        <p:spPr>
          <a:xfrm>
            <a:off x="749808" y="2231136"/>
            <a:ext cx="6272784" cy="3611880"/>
          </a:xfrm>
          <a:prstGeom prst="rect">
            <a:avLst/>
          </a:prstGeom>
          <a:noFill/>
          <a:ln/>
        </p:spPr>
        <p:txBody>
          <a:bodyPr wrap="square" rtlCol="0" anchor="ctr"/>
          <a:lstStyle/>
          <a:p>
            <a:pPr indent="0" marL="0">
              <a:buNone/>
            </a:pPr>
            <a:r>
              <a:rPr lang="en-US" sz="1590" dirty="0">
                <a:solidFill>
                  <a:srgbClr val="20252B"/>
                </a:solidFill>
                <a:latin typeface="DM Sans" pitchFamily="34" charset="0"/>
                <a:ea typeface="DM Sans" pitchFamily="34" charset="-122"/>
                <a:cs typeface="DM Sans" pitchFamily="34" charset="-120"/>
              </a:rPr>
              <a:t>The Plasmonic Hydrogen Power Generator is not just another renewable solution; it is presented as a transformative platform that unites advanced nanotechnology with sustainable engineering.</a:t>
            </a:r>
            <a:endParaRPr lang="en-US" sz="1590" dirty="0"/>
          </a:p>
          <a:p>
            <a:pPr indent="0" marL="0">
              <a:buNone/>
            </a:pPr>
            <a:endParaRPr lang="en-US" sz="1590" dirty="0"/>
          </a:p>
          <a:p>
            <a:pPr indent="0" marL="0">
              <a:buNone/>
            </a:pPr>
            <a:r>
              <a:rPr lang="en-US" sz="1590" dirty="0">
                <a:solidFill>
                  <a:srgbClr val="20252B"/>
                </a:solidFill>
                <a:latin typeface="DM Sans" pitchFamily="34" charset="0"/>
                <a:ea typeface="DM Sans" pitchFamily="34" charset="-122"/>
                <a:cs typeface="DM Sans" pitchFamily="34" charset="-120"/>
              </a:rPr>
              <a:t>By unlocking the potential of hydrogen through plasmonic innovation, it offers a clean, efficient, and renewable pathway toward global energy independence.</a:t>
            </a:r>
            <a:endParaRPr lang="en-US" sz="1590" dirty="0"/>
          </a:p>
          <a:p>
            <a:pPr indent="0" marL="0">
              <a:buNone/>
            </a:pPr>
            <a:endParaRPr lang="en-US" sz="1590" dirty="0"/>
          </a:p>
          <a:p>
            <a:pPr indent="0" marL="0">
              <a:buNone/>
            </a:pPr>
            <a:r>
              <a:rPr lang="en-US" sz="1590" dirty="0">
                <a:solidFill>
                  <a:srgbClr val="20252B"/>
                </a:solidFill>
                <a:latin typeface="DM Sans" pitchFamily="34" charset="0"/>
                <a:ea typeface="DM Sans" pitchFamily="34" charset="-122"/>
                <a:cs typeface="DM Sans" pitchFamily="34" charset="-120"/>
              </a:rPr>
              <a:t>From compact modular units to national energy infrastructures, it is positioned to support decentralized, emission-free power systems across transportation, industry, and grid applications.</a:t>
            </a:r>
            <a:endParaRPr lang="en-US" sz="1590" dirty="0"/>
          </a:p>
        </p:txBody>
      </p:sp>
      <p:sp>
        <p:nvSpPr>
          <p:cNvPr id="21" name="Shape 19"/>
          <p:cNvSpPr/>
          <p:nvPr/>
        </p:nvSpPr>
        <p:spPr>
          <a:xfrm>
            <a:off x="7635240" y="1938528"/>
            <a:ext cx="3867912" cy="3566160"/>
          </a:xfrm>
          <a:prstGeom prst="roundRect">
            <a:avLst/>
          </a:prstGeom>
          <a:solidFill>
            <a:srgbClr val="FFFFFF"/>
          </a:solidFill>
          <a:ln w="12700">
            <a:solidFill>
              <a:srgbClr val="CFC8BA"/>
            </a:solidFill>
            <a:prstDash val="solid"/>
          </a:ln>
        </p:spPr>
      </p:sp>
      <p:sp>
        <p:nvSpPr>
          <p:cNvPr id="22" name="Text 20"/>
          <p:cNvSpPr/>
          <p:nvPr/>
        </p:nvSpPr>
        <p:spPr>
          <a:xfrm>
            <a:off x="7827264" y="2130552"/>
            <a:ext cx="3474720" cy="274320"/>
          </a:xfrm>
          <a:prstGeom prst="rect">
            <a:avLst/>
          </a:prstGeom>
          <a:noFill/>
          <a:ln/>
        </p:spPr>
        <p:txBody>
          <a:bodyPr wrap="square" rtlCol="0" anchor="ctr"/>
          <a:lstStyle/>
          <a:p>
            <a:pPr indent="0" marL="0">
              <a:buNone/>
            </a:pPr>
            <a:r>
              <a:rPr lang="en-US" sz="1300" b="1" dirty="0">
                <a:solidFill>
                  <a:srgbClr val="1E5A2A"/>
                </a:solidFill>
                <a:latin typeface="DM Sans" pitchFamily="34" charset="0"/>
                <a:ea typeface="DM Sans" pitchFamily="34" charset="-122"/>
                <a:cs typeface="DM Sans" pitchFamily="34" charset="-120"/>
              </a:rPr>
              <a:t>Closing Frame</a:t>
            </a:r>
            <a:endParaRPr lang="en-US" sz="1300" dirty="0"/>
          </a:p>
        </p:txBody>
      </p:sp>
      <p:sp>
        <p:nvSpPr>
          <p:cNvPr id="23" name="Text 21"/>
          <p:cNvSpPr/>
          <p:nvPr/>
        </p:nvSpPr>
        <p:spPr>
          <a:xfrm>
            <a:off x="7799832" y="2468880"/>
            <a:ext cx="3566160" cy="2834640"/>
          </a:xfrm>
          <a:prstGeom prst="rect">
            <a:avLst/>
          </a:prstGeom>
          <a:noFill/>
          <a:ln/>
        </p:spPr>
        <p:txBody>
          <a:bodyPr wrap="square" rtlCol="0" anchor="t"/>
          <a:lstStyle/>
          <a:p>
            <a:pPr marL="129540" indent="-129540">
              <a:buSzPct val="100000"/>
              <a:buChar char="•"/>
            </a:pPr>
            <a:r>
              <a:rPr lang="en-US" sz="1360" dirty="0">
                <a:solidFill>
                  <a:srgbClr val="20252B"/>
                </a:solidFill>
                <a:latin typeface="DM Sans" pitchFamily="34" charset="0"/>
                <a:ea typeface="DM Sans" pitchFamily="34" charset="-122"/>
                <a:cs typeface="DM Sans" pitchFamily="34" charset="-120"/>
              </a:rPr>
              <a:t>Scientific precision with commercial scalability
</a:t>
            </a:r>
            <a:endParaRPr lang="en-US" sz="1360" dirty="0"/>
          </a:p>
          <a:p>
            <a:pPr marL="129540" indent="-129540">
              <a:buSzPct val="100000"/>
              <a:buChar char="•"/>
            </a:pPr>
            <a:r>
              <a:rPr lang="en-US" sz="1360" dirty="0">
                <a:solidFill>
                  <a:srgbClr val="20252B"/>
                </a:solidFill>
                <a:latin typeface="DM Sans" pitchFamily="34" charset="0"/>
                <a:ea typeface="DM Sans" pitchFamily="34" charset="-122"/>
                <a:cs typeface="DM Sans" pitchFamily="34" charset="-120"/>
              </a:rPr>
              <a:t>Bridge technology compatible with existing platforms
</a:t>
            </a:r>
            <a:endParaRPr lang="en-US" sz="1360" dirty="0"/>
          </a:p>
          <a:p>
            <a:pPr marL="129540" indent="-129540">
              <a:buSzPct val="100000"/>
              <a:buChar char="•"/>
            </a:pPr>
            <a:r>
              <a:rPr lang="en-US" sz="1360" dirty="0">
                <a:solidFill>
                  <a:srgbClr val="20252B"/>
                </a:solidFill>
                <a:latin typeface="DM Sans" pitchFamily="34" charset="0"/>
                <a:ea typeface="DM Sans" pitchFamily="34" charset="-122"/>
                <a:cs typeface="DM Sans" pitchFamily="34" charset="-120"/>
              </a:rPr>
              <a:t>Foundation for decentralized, emission-free power systems
</a:t>
            </a:r>
            <a:endParaRPr lang="en-US" sz="1360" dirty="0"/>
          </a:p>
          <a:p>
            <a:pPr marL="129540" indent="-129540">
              <a:buSzPct val="100000"/>
              <a:buChar char="•"/>
            </a:pPr>
            <a:r>
              <a:rPr lang="en-US" sz="1360" dirty="0">
                <a:solidFill>
                  <a:srgbClr val="20252B"/>
                </a:solidFill>
                <a:latin typeface="DM Sans" pitchFamily="34" charset="0"/>
                <a:ea typeface="DM Sans" pitchFamily="34" charset="-122"/>
                <a:cs typeface="DM Sans" pitchFamily="34" charset="-120"/>
              </a:rPr>
              <a:t>Supports transition toward a zero-carbon world
</a:t>
            </a:r>
            <a:endParaRPr lang="en-US" sz="13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Supercloud Energy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Plasmonic Hydrogen Power Generator - 6 Slide Deck</dc:title>
  <dc:subject>Plasmonic Hydrogen Power Generator</dc:subject>
  <dc:creator>Hans / Codex</dc:creator>
  <cp:lastModifiedBy>Hans / Codex</cp:lastModifiedBy>
  <cp:revision>1</cp:revision>
  <dcterms:created xsi:type="dcterms:W3CDTF">2026-02-26T16:38:51Z</dcterms:created>
  <dcterms:modified xsi:type="dcterms:W3CDTF">2026-02-26T16:38:51Z</dcterms:modified>
</cp:coreProperties>
</file>